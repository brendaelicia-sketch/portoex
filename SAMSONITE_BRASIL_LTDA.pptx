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rgbClr val="1D1B43"/>
            </a:solidFill>
          </c:spPr>
          <c:cat>
            <c:strRef>
              <c:f>Sheet1!$A$2:$A$3</c:f>
              <c:strCache>
                <c:ptCount val="2"/>
                <c:pt idx="0">
                  <c:v>Maio 2026</c:v>
                </c:pt>
                <c:pt idx="1">
                  <c:v>Abril 2026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187</c:v>
                </c:pt>
                <c:pt idx="1">
                  <c:v>244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97316"/>
            </a:solidFill>
          </c:spPr>
          <c:cat>
            <c:strRef>
              <c:f>Sheet1!$A$2:$A$3</c:f>
              <c:strCache>
                <c:ptCount val="2"/>
                <c:pt idx="0">
                  <c:v>Maio 2026</c:v>
                </c:pt>
                <c:pt idx="1">
                  <c:v>Abril 2026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6</c:v>
                </c:pt>
                <c:pt idx="1">
                  <c:v>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1_img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2664" y="0"/>
            <a:ext cx="6876288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04088" y="82296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RELATORIO 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78308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DESEMPENHO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474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D1B43"/>
                </a:solidFill>
                <a:latin typeface="Calibri"/>
              </a:rPr>
              <a:t>INDICADORES ABRIL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" y="3913632"/>
            <a:ext cx="347472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4754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D1B43"/>
                </a:solidFill>
                <a:latin typeface="Calibri"/>
              </a:rPr>
              <a:t>SAMSONITE BRASIL LTDA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34656" y="594360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Nossa rota e ir alem das entregas!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97316"/>
                </a:solidFill>
                <a:latin typeface="Calibri"/>
              </a:rPr>
              <a:t>RESUMO DA OPERACAO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874519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D1B43"/>
                </a:solidFill>
                <a:latin typeface="Calibri"/>
              </a:rPr>
              <a:t>245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TOTAL ENTREGAS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3192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244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NO PRAZO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F4444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FORA DO PRAZO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9264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99.6%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TAXA DE SUCESSO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1645920" y="3840480"/>
          <a:ext cx="88696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828800"/>
                <a:gridCol w="1828800"/>
                <a:gridCol w="201168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Maio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VARIACAO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193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187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244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+ 57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- 5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96.9%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99.6%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+ 2.7pp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97316"/>
                </a:solidFill>
                <a:latin typeface="Calibri"/>
              </a:rPr>
              <a:t>PERFORMANCE DE ENTREGA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9164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920240"/>
          <a:ext cx="7315200" cy="3840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955279" y="2286000"/>
          <a:ext cx="448056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914400"/>
                <a:gridCol w="1005840"/>
                <a:gridCol w="640080"/>
                <a:gridCol w="822960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%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Maio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193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96.9%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245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244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99.6%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955279" y="6035040"/>
            <a:ext cx="4114800" cy="5486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1000" y="608076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PERFORMANCE: 99.6% - EXCELENTE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97316"/>
                </a:solidFill>
                <a:latin typeface="Calibri"/>
              </a:rPr>
              <a:t>OCORRENCIAS FORA DO PRAZO (1)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0020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828800"/>
          <a:ext cx="11429999" cy="768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749039"/>
                <a:gridCol w="2103120"/>
                <a:gridCol w="1554480"/>
                <a:gridCol w="27432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MD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CIDADE/UF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PREV. ENTREGA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281066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EBAZAR.COM.BR. LTDA - CAJAMAR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CAJAMAR/SP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30/04/2026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97316"/>
                </a:solidFill>
                <a:latin typeface="Calibri"/>
              </a:rPr>
              <a:t>PERFORMANCE POR UF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719072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920240"/>
          <a:ext cx="1069848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645920"/>
                <a:gridCol w="1645920"/>
                <a:gridCol w="1645920"/>
                <a:gridCol w="1554480"/>
                <a:gridCol w="310896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188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99.5%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RJ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97316"/>
                </a:solidFill>
                <a:latin typeface="Calibri"/>
              </a:rPr>
              <a:t>TOP DESTINATARIOS (91 pontos)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64208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828800"/>
          <a:ext cx="115214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3931920"/>
                <a:gridCol w="1005840"/>
                <a:gridCol w="1280160"/>
                <a:gridCol w="731520"/>
                <a:gridCol w="1188720"/>
                <a:gridCol w="2926080"/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SAMSONITE BRASIL LTD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SAMSONITE BRASIL LTD - NAVEGANTES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NAMASTE SERVICOS LTD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SAMSONITE DO BRASIL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INTERTRAVEL BRASIL C - RIBEIRAO PRETO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SAMSONITE BRASIL LTD - SAO ROQUE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INTERTRAVEL BRASIL C - SAO JOSE DO RIO PRETO /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SAMSONITE BRASIL LTD - ITUPEVA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GIOVANA S. VIEIRA CO - CAMPINAS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SAAM PAULISTA ARTIGO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SAMITT JARDIM ARTIGO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SAS NORTE ARTIGOS DE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NOVA TK CENTER COURO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TRIESTE COMERCIO DE - FLORIANOPOLIS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Imagem 2" descr="Logotipo&#10;&#10;O conteúdo gerado por IA pode estar incorreto.">
            <a:extLst>
              <a:ext uri="{FF2B5EF4-FFF2-40B4-BE49-F238E27FC236}">
                <a16:creationId xmlns:a16="http://schemas.microsoft.com/office/drawing/2014/main" id="{ED35CF5C-88F5-A17C-6A93-CAB0F2FC29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881" y="2171286"/>
            <a:ext cx="4569347" cy="1374375"/>
          </a:xfrm>
          <a:prstGeom prst="rect">
            <a:avLst/>
          </a:prstGeom>
        </p:spPr>
      </p:pic>
      <p:sp>
        <p:nvSpPr>
          <p:cNvPr id="30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5594358"/>
            <a:ext cx="3291840" cy="18288"/>
          </a:xfrm>
          <a:custGeom>
            <a:avLst/>
            <a:gdLst>
              <a:gd name="csX0" fmla="*/ 0 w 3291840"/>
              <a:gd name="csY0" fmla="*/ 0 h 18288"/>
              <a:gd name="csX1" fmla="*/ 658368 w 3291840"/>
              <a:gd name="csY1" fmla="*/ 0 h 18288"/>
              <a:gd name="csX2" fmla="*/ 1283818 w 3291840"/>
              <a:gd name="csY2" fmla="*/ 0 h 18288"/>
              <a:gd name="csX3" fmla="*/ 1909267 w 3291840"/>
              <a:gd name="csY3" fmla="*/ 0 h 18288"/>
              <a:gd name="csX4" fmla="*/ 2633472 w 3291840"/>
              <a:gd name="csY4" fmla="*/ 0 h 18288"/>
              <a:gd name="csX5" fmla="*/ 3291840 w 3291840"/>
              <a:gd name="csY5" fmla="*/ 0 h 18288"/>
              <a:gd name="csX6" fmla="*/ 3291840 w 3291840"/>
              <a:gd name="csY6" fmla="*/ 18288 h 18288"/>
              <a:gd name="csX7" fmla="*/ 2633472 w 3291840"/>
              <a:gd name="csY7" fmla="*/ 18288 h 18288"/>
              <a:gd name="csX8" fmla="*/ 2073859 w 3291840"/>
              <a:gd name="csY8" fmla="*/ 18288 h 18288"/>
              <a:gd name="csX9" fmla="*/ 1448410 w 3291840"/>
              <a:gd name="csY9" fmla="*/ 18288 h 18288"/>
              <a:gd name="csX10" fmla="*/ 822960 w 3291840"/>
              <a:gd name="csY10" fmla="*/ 18288 h 18288"/>
              <a:gd name="csX11" fmla="*/ 0 w 3291840"/>
              <a:gd name="csY11" fmla="*/ 18288 h 18288"/>
              <a:gd name="csX12" fmla="*/ 0 w 329184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Imagem 5" descr="Logotipo, nome da empresa&#10;&#10;Descrição gerada automaticamente">
            <a:extLst>
              <a:ext uri="{FF2B5EF4-FFF2-40B4-BE49-F238E27FC236}">
                <a16:creationId xmlns:a16="http://schemas.microsoft.com/office/drawing/2014/main" id="{34AC1B7C-9A66-44B7-9FBA-8044577DDA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8389" y="1167431"/>
            <a:ext cx="4924159" cy="2378231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47492DD1-345A-4D4F-AF38-59BC372A4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501453"/>
            <a:ext cx="10909640" cy="1065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b="1" dirty="0">
                <a:solidFill>
                  <a:schemeClr val="accent2"/>
                </a:solidFill>
                <a:latin typeface="+mn-lt"/>
              </a:rPr>
              <a:t>OBRIGADA</a:t>
            </a:r>
          </a:p>
        </p:txBody>
      </p:sp>
      <p:sp useBgFill="1">
        <p:nvSpPr>
          <p:cNvPr id="29" name="Rectangle 22">
            <a:extLst>
              <a:ext uri="{FF2B5EF4-FFF2-40B4-BE49-F238E27FC236}">
                <a16:creationId xmlns:a16="http://schemas.microsoft.com/office/drawing/2014/main" id="{F0087D53-9295-4463-AAE4-D5C626046E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