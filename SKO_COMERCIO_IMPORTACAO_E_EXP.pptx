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1D1B43"/>
            </a:solidFill>
          </c:spPr>
          <c:cat>
            <c:strRef>
              <c:f>Sheet1!$A$2:$A$3</c:f>
              <c:strCache>
                <c:ptCount val="2"/>
                <c:pt idx="0">
                  <c:v>Marco 2026</c:v>
                </c:pt>
                <c:pt idx="1">
                  <c:v>Abril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190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97316"/>
            </a:solidFill>
          </c:spPr>
          <c:cat>
            <c:strRef>
              <c:f>Sheet1!$A$2:$A$3</c:f>
              <c:strCache>
                <c:ptCount val="2"/>
                <c:pt idx="0">
                  <c:v>Marco 2026</c:v>
                </c:pt>
                <c:pt idx="1">
                  <c:v>Abril 2026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86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_im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0"/>
            <a:ext cx="687628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" y="822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RELATORIO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783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DESEMPENHO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474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1B43"/>
                </a:solidFill>
                <a:latin typeface="Calibri"/>
              </a:rPr>
              <a:t>INDICADORES ABRIL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3913632"/>
            <a:ext cx="34747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1B43"/>
                </a:solidFill>
                <a:latin typeface="Calibri"/>
              </a:rPr>
              <a:t>SKO COMERCIO, IMPORTACAO E EXP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4656" y="5943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Nossa rota e ir alem das
entregas!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97316"/>
                </a:solidFill>
                <a:latin typeface="Calibri"/>
              </a:rPr>
              <a:t>RESUMO DA OPERACAO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874519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D1B43"/>
                </a:solidFill>
                <a:latin typeface="Calibri"/>
              </a:rPr>
              <a:t>276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TOTAL ENTREGAS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190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NO PRAZO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  <a:latin typeface="Calibri"/>
              </a:rPr>
              <a:t>86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FORA DO PRAZO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  <a:latin typeface="Calibri"/>
              </a:rPr>
              <a:t>68.8%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TAXA DE SUCESSO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645920" y="3840480"/>
          <a:ext cx="8869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201168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Marco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Abril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VARIACAO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+ 276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190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+ 190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+ 86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68.8%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68.8%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+ 0.0pp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97316"/>
                </a:solidFill>
                <a:latin typeface="Calibri"/>
              </a:rPr>
              <a:t>PERFORMANCE DE ENTREGA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9164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20240"/>
          <a:ext cx="73152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55279" y="2286000"/>
          <a:ext cx="448056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005840"/>
                <a:gridCol w="640080"/>
                <a:gridCol w="82296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Marco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68.8%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Abril 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190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68.8%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55279" y="6035040"/>
            <a:ext cx="411480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60807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PERFORMANCE: 68.8% - ATENCAO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97316"/>
                </a:solidFill>
                <a:latin typeface="Calibri"/>
              </a:rPr>
              <a:t>OCORRENCIAS FORA DO PRAZO (86)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0020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429999" cy="45719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749039"/>
                <a:gridCol w="2103120"/>
                <a:gridCol w="1554480"/>
                <a:gridCol w="2743200"/>
              </a:tblGrid>
              <a:tr h="52551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MD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CIDADE/UF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PREV. ENTREGA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5255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276108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ELIANA DE SOUZA QUEI - ARTUR NOGUEIRA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ARTUR NOGUEIRA/SP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01/04/2026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5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279417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LUNALO CALCADOS E AC - OUROESTE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OUROESTE/SP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28/04/2026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255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279420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MILLA MODAS COMERCIO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SAO PAULO/SP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23/04/2026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5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279713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A&amp;C CALCADOS LTDA - DIVINOPOLIS / 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DIVINOPOLIS/MG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29/04/2026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255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279715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CALCADOS E ACESSORIO - PASSOS / 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PASSOS/MG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29/04/2026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5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279718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G.B. CASTRO TEIXEIRA - PATOS DE MINAS / 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PATOS DE MINAS/MG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29/04/2026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255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279723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MG CIDADE LTDA - BELO HORIZONTE / 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BELO HORIZONTE/MG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29/04/2026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5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279725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MGJFS COM E CALC E A - JUIZ DE FORA / 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JUIZ DE FORA/MG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29/04/2026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255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279727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LUCAS FELIPPE PAULET - PATROCINIO / 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PATROCINIO/MG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29/04/2026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5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279730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RENEE SHOES LTDA - PARA DE MINAS / 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PARA DE MINAS/MG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29/04/2026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255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279732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S. A. LEMOS LTDA - VILA VELHA / 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VILA VELHA/ES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29/04/2026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5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279737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ZA&amp;KRIS ACESSORIOS E - POCOS DE CALDAS / 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POCOS DE CALDAS/MG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29/04/2026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255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279739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CASTRO ALVES CALCADO - LINHARES / 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LINHARES/ES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29/04/2026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5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279741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GONCALVES &amp; LEVISKI - ARAXA / 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ARAXA/MG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29/04/2026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255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279744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SV BOLSAS E SAPATOS - VITORIA / 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VITORIA/ES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29/04/2026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5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279746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R4 COMERCIO DE SAPAT - VITORIA / 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VITORIA/ES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29/04/2026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255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279752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DESIGUAL BOUTIQUE LT - SALTO DE PIRAPORA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SALTO DE PIRAPORA/SP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29/04/2026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5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279761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13.635.986 DANISA FA - TEOFILO OTONI / 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TEOFILO OTONI/MG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29/04/2026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255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279762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ARI COMERCIO E SERVI - SERRA / 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SERRA/ES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29/04/2026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5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279763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CRIS THOMAZI MULTIMA - ARINOS / 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ARINOS/MG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29/04/2026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255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279768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JUSSANDRA MANIA DE M - MAR DE ESPANHA / 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MAR DE ESPANHA/MG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29/04/2026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5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279769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VIANA E CARDOSO - CO - ARCOS / 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ARCOS/MG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29/04/2026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255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279770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ITA SOM LTDA - ITANHANDU / 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ITANHANDU/MG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29/04/2026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5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279771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SAMARA DANIELLE DA S - SENADOR AMARAL / 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SENADOR AMARAL/MG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29/04/2026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255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279772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36.392.973 ANA JULLI - POMPEU / 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POMPEU/MG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29/04/2026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5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279774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LARISSA LUZIA ALVES - PIRAJUBA / 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PIRAJUBA/MG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29/04/2026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255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279775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NILVA DE MORAIS FONS - TURVOLANDIA / 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TURVOLANDIA/MG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29/04/2026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5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279777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CALCADOS PAOLO LTDA - LAGOA DA PRATA / 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LAGOA DA PRATA/MG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29/04/2026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255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279780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DWX COMERCIO DE CALC - ASTOLFO DUTRA / 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ASTOLFO DUTRA/MG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29/04/2026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5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279781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LORENCIA COMERCIO VA - SAO GONCALO DO RIO ABAIXO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SAO GONCALO DO RIO ABAIXO/MG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29/04/2026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255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279782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IMPERIUM BOUTIQUE LT - FUNDAO / 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FUNDAO/ES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29/04/2026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5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279784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CRISTAL MODAS COMERC - EXTREMA / 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EXTREMA/MG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29/04/2026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255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279785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SIMONE SEMI JOIAS E - CONSELHEIRO LAFAIETE / 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CONSELHEIRO LAFAIETE/MG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29/04/2026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5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279786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PEZAO CALCADOS IBIA - IBIA / 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IBIA/MG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29/04/2026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255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279787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BARBARA LUXO CALCADO - ITAPECERICA / 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ITAPECERICA/MG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29/04/2026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5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279788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ALANA MODAS LTDA - BRASILANDIA DE MINAS / 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BRASILANDIA DE MINAS/MG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29/04/2026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255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279790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EMPORIO 21 COMERCIO - FRUTAL / 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FRUTAL/MG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29/04/2026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5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279791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J M S COMERCIO DE SA - RIO NOVO DO SUL / 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RIO NOVO DO SUL/ES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29/04/2026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255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279792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TANIA CENTER CALCADO - RIO POMBA / 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RIO POMBA/MG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29/04/2026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5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279793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ANDREIA SALVADOR CAL - COLATINA / 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COLATINA/ES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29/04/2026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255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279794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J B COMERCIO DE ROUP - SERRA / 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SERRA/ES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29/04/2026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5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279795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JOSE CLOVES PINHEIRO - ITAMBACURI / 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ITAMBACURI/MG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29/04/2026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255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279796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MARCOS VINICIUS AMOR - ITAPAGIPE / 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ITAPAGIPE/MG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29/04/2026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5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279799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 J L DE OLIVEIRA - IRUPI / 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IRUPI/ES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29/04/2026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255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279800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ALLURE SHOES E ACESS - JERONIMO MONTEIRO / 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JERONIMO MONTEIRO/ES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29/04/2026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5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279801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MARIA JORGE ANTUNES - MONTE AZUL / 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MONTE AZUL/MG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29/04/2026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255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279802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CONFECCOES BROEDEL L - CARIACICA / 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CARIACICA/ES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29/04/2026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5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279803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VANIA MARA FERREIRA - CAMPOS GERAIS / 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CAMPOS GERAIS/MG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29/04/2026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255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279804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ELLAS CALCADOS, BOLS - PIUMA / 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PIUMA/ES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29/04/2026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5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279805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GESSICA CHIEPPE 1363 - MARILANDIA / 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MARILANDIA/ES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29/04/2026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255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279806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COMERCIAL COSTA LEME - ARCOS / 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ARCOS/MG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29/04/2026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5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279808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MARIANA BRAGA SANTOS - PIRAPORA / 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PIRAPORA/MG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29/04/2026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255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279809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LUCIMAR HELENA BERNA - CAPITOLIO / 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CAPITOLIO/MG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29/04/2026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5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279810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59.187.128 CLAUDIANA - CARMOPOLIS DE MINAS / 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CARMOPOLIS DE MINAS/MG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29/04/2026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255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279811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OTOS COMERCIO DE ROU - CASSIA / 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CASSIA/MG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29/04/2026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5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279992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 &amp; M CALCADOS LTDA - FORMIGA / 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FORMIGA/MG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29/04/2026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255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279993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MARCO TULIO CALCADOS - FORMIGA / 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FORMIGA/MG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29/04/2026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5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279995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DI DELLE CALCADOS LT - ARACRUZ / 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ARACRUZ/ES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29/04/2026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255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279997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STAR SHOES LTDA - GUACUI / 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GUACUI/ES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29/04/2026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5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280000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MOYRA NOGAROL SHOES - MARATAIZES / 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MARATAIZES/ES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29/04/2026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255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280004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 P MEDEIROS COMERCI - ANCHIETA / 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ANCHIETA/ES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29/04/2026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5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280005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EDILAINE MOREIRA DE - VISCONDE DO RIO BRANCO / 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VISCONDE DO RIO BRANCO/MG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29/04/2026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255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280031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 STORE COMERCIO LTD - IBIRACU / 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IBIRACU/ES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29/04/2026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5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280085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LOURENCONI GARCIA CA - NEPOMUCENO / 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NEPOMUCENO/MG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29/04/2026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255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280088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AMORE CALCADOS E MOD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SAO PAULO/SP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28/04/2026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5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280091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MATHEUS CHAVES DE HO - ALFENAS / 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ALFENAS/MG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29/04/2026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255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280092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 P MEDEIROS COMERCI - CACHOEIRO DE ITAPEMIRIM /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CACHOEIRO DE ITAPEMIRIM/ES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29/04/2026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5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280094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 P MEDEIROS COMERCI - CACHOEIRO DE ITAPEMIRIM /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CACHOEIRO DE ITAPEMIRIM/ES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29/04/2026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255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280095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NEW WALK CALCADOS LT - SAO SEBASTIAO DO PARAISO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SAO SEBASTIAO DO PARAISO/MG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29/04/2026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5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280096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JOSE IDEMAURO GOULAR - OURO FINO / 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OURO FINO/MG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29/04/2026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255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280098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CALCADOS E ACESSORIO - SAO JOSE DO CALCADO / 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SAO JOSE DO CALCADO/ES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29/04/2026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5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280100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CONFECCOES BATISTA E - ITABIRA / 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ITABIRA/MG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29/04/2026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255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280230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CIA DO SUCESSO LTDA - GOVERNADOR VALADARES / 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GOVERNADOR VALADARES/MG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30/04/2026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5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280231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EMPODERADAS E CIA LT - ITUIUTABA / 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ITUIUTABA/MG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30/04/2026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255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280234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KARINE ALEXANDRE BRI - JANAUBA / 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JANAUBA/MG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30/04/2026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5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280235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LABAMBAS MODAS E CAL - COLATINA / 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COLATINA/ES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30/04/2026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255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280238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PRISCILLA REIS CARVA - TRES PONTAS / 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TRES PONTAS/MG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30/04/2026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5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280242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FINITO CALCADOS E AC - PONTE NOVA / 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PONTE NOVA/MG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30/04/2026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255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280244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D&amp;J BOUTIQUE LTDA - - SAO GABRIEL DA PALHA / 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SAO GABRIEL DA PALHA/ES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30/04/2026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5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280246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ELIZANGELA RAMOS DE - MONTE CARMELO / 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MONTE CARMELO/MG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30/04/2026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255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280247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SOBREIRA E ALBANI LT - ALEGRE / 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ALEGRE/ES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30/04/2026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5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280251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MUNDI CENTER LTDA - VICOSA / 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VICOSA/MG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30/04/2026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255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280254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43.474.701 TEREZINHA - FRANCISCO MORATO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FRANCISCO MORATO/SP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30/04/2026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5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280262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62.209.212 EVELLYN A - IBITIRAMA / 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IBITIRAMA/ES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30/04/2026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255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280266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11.681.910 DARLENE G - BIRITIBA-MIRIM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BIRITIBA-MIRIM/SP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30/04/2026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5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280312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CMD COMERCIO VAREJIS - RIO DO SUL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RIO DO SUL/SC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29/04/2026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97316"/>
                </a:solidFill>
                <a:latin typeface="Calibri"/>
              </a:rPr>
              <a:t>PERFORMANCE POR UF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719072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645920"/>
                <a:gridCol w="1645920"/>
                <a:gridCol w="1554480"/>
                <a:gridCol w="310896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95.7%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Regular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21.2%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90.9%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Regular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RJ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97316"/>
                </a:solidFill>
                <a:latin typeface="Calibri"/>
              </a:rPr>
              <a:t>TOP DESTINATARIOS (207 pontos)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64208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828800"/>
          <a:ext cx="115214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1005840"/>
                <a:gridCol w="1280160"/>
                <a:gridCol w="731520"/>
                <a:gridCol w="1188720"/>
                <a:gridCol w="2926080"/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DIOGO COMERCIO DE CA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NATYLILLYS COMERCIO - SAO PAULO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UMEKITA SHOES EIRELI - CAMPINAS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BM FASHION SHOES LTD - AMERICANA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BLP SAPATOS E BOLSAS - GUARULHOS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FENG SHOES CALCADOS - VOTORANTIM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AMORE CALCADOS E MOD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CV COMERCIO DE MODAS - BARUERI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HERDEIROS DE ABRAAO - SAO BERNARDO DO CAMPO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JOTTA COMERCIO DE CA - SAO PAULO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JOVAN COMERCIO DE CA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H&amp;M COMERCIO DE CALC - BLUMENAU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GG LUONGO LTDA - OSASCO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APONTE COMERCIO DE C - SAO PAULO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ED35CF5C-88F5-A17C-6A93-CAB0F2FC2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81" y="2171286"/>
            <a:ext cx="4569347" cy="1374375"/>
          </a:xfrm>
          <a:prstGeom prst="rect">
            <a:avLst/>
          </a:prstGeom>
        </p:spPr>
      </p:pic>
      <p:sp>
        <p:nvSpPr>
          <p:cNvPr id="3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34AC1B7C-9A66-44B7-9FBA-8044577DD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389" y="1167431"/>
            <a:ext cx="4924159" cy="237823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7492DD1-345A-4D4F-AF38-59BC372A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>
                <a:solidFill>
                  <a:schemeClr val="accent2"/>
                </a:solidFill>
                <a:latin typeface="+mn-lt"/>
              </a:rPr>
              <a:t>OBRIGADA</a:t>
            </a:r>
          </a:p>
        </p:txBody>
      </p:sp>
      <p:sp useBgFill="1">
        <p:nvSpPr>
          <p:cNvPr id="29" name="Rectangle 22">
            <a:extLst>
              <a:ext uri="{FF2B5EF4-FFF2-40B4-BE49-F238E27FC236}">
                <a16:creationId xmlns:a16="http://schemas.microsoft.com/office/drawing/2014/main" id="{F0087D53-9295-4463-AAE4-D5C626046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