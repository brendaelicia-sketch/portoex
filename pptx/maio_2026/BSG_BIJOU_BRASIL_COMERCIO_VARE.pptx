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No Prazo</c:v>
                </c:pt>
              </c:strCache>
            </c:strRef>
          </c:tx>
          <c:spPr>
            <a:solidFill>
              <a:srgbClr val="1D1B43"/>
            </a:solidFill>
          </c:spPr>
          <c:cat>
            <c:strRef>
              <c:f>Sheet1!$A$2:$A$3</c:f>
              <c:strCache>
                <c:ptCount val="2"/>
                <c:pt idx="0">
                  <c:v>Maio 2026</c:v>
                </c:pt>
                <c:pt idx="1">
                  <c:v>Abril 2026</c:v>
                </c:pt>
              </c:strCache>
            </c: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596</c:v>
                </c:pt>
                <c:pt idx="1">
                  <c:v>575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Fora do Prazo</c:v>
                </c:pt>
              </c:strCache>
            </c:strRef>
          </c:tx>
          <c:spPr>
            <a:solidFill>
              <a:srgbClr val="F97316"/>
            </a:solidFill>
          </c:spPr>
          <c:cat>
            <c:strRef>
              <c:f>Sheet1!$A$2:$A$3</c:f>
              <c:strCache>
                <c:ptCount val="2"/>
                <c:pt idx="0">
                  <c:v>Maio 2026</c:v>
                </c:pt>
                <c:pt idx="1">
                  <c:v>Abril 2026</c:v>
                </c:pt>
              </c:strCache>
            </c:strRef>
          </c:cat>
          <c:val>
            <c:numRef>
              <c:f>Sheet1!$C$2:$C$3</c:f>
              <c:numCache>
                <c:formatCode>General</c:formatCode>
                <c:ptCount val="2"/>
                <c:pt idx="0">
                  <c:v>22</c:v>
                </c:pt>
                <c:pt idx="1">
                  <c:v>2</c:v>
                </c:pt>
              </c:numCache>
            </c:numRef>
          </c:val>
        </c:ser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/>
        <c:majorTickMark val="out"/>
        <c:minorTickMark val="none"/>
        <c:tickLblPos val="nextTo"/>
        <c:crossAx val="-2068027336"/>
        <c:crosses val="autoZero"/>
      </c:valAx>
    </c:plotArea>
    <c:legend>
      <c:legendPos val="b"/>
    </c:legend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chart" Target="../charts/chart1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slide1_img3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12664" y="0"/>
            <a:ext cx="6876288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04088" y="822960"/>
            <a:ext cx="45720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800" b="1">
                <a:solidFill>
                  <a:srgbClr val="F97316"/>
                </a:solidFill>
                <a:latin typeface="Calibri"/>
              </a:rPr>
              <a:t>RELATORIO DE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04088" y="1783080"/>
            <a:ext cx="45720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800" b="1">
                <a:solidFill>
                  <a:srgbClr val="F97316"/>
                </a:solidFill>
                <a:latin typeface="Calibri"/>
              </a:rPr>
              <a:t>DESEMPENHO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04088" y="3474720"/>
            <a:ext cx="4572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1D1B43"/>
                </a:solidFill>
                <a:latin typeface="Calibri"/>
              </a:rPr>
              <a:t>INDICADORES MAIO 2026</a:t>
            </a:r>
          </a:p>
        </p:txBody>
      </p:sp>
      <p:sp>
        <p:nvSpPr>
          <p:cNvPr id="6" name="Rectangle 5"/>
          <p:cNvSpPr/>
          <p:nvPr/>
        </p:nvSpPr>
        <p:spPr>
          <a:xfrm>
            <a:off x="704088" y="3913632"/>
            <a:ext cx="3474720" cy="36576"/>
          </a:xfrm>
          <a:prstGeom prst="rect">
            <a:avLst/>
          </a:prstGeom>
          <a:solidFill>
            <a:srgbClr val="F973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7200" y="4114800"/>
            <a:ext cx="475488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1D1B43"/>
                </a:solidFill>
                <a:latin typeface="Calibri"/>
              </a:rPr>
              <a:t>BSG BIJOU BRASIL COMERCIO VARE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534656" y="5943600"/>
            <a:ext cx="34747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Nossa rota e ir alem das entregas!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slide2_img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61904" y="155448"/>
            <a:ext cx="1380744" cy="667512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49808" y="502920"/>
            <a:ext cx="91440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400" b="1">
                <a:solidFill>
                  <a:srgbClr val="F97316"/>
                </a:solidFill>
                <a:latin typeface="Calibri"/>
              </a:rPr>
              <a:t>RESUMO DA OPERACAO</a:t>
            </a:r>
          </a:p>
        </p:txBody>
      </p:sp>
      <p:sp>
        <p:nvSpPr>
          <p:cNvPr id="4" name="Rectangle 3"/>
          <p:cNvSpPr/>
          <p:nvPr/>
        </p:nvSpPr>
        <p:spPr>
          <a:xfrm>
            <a:off x="749808" y="1874519"/>
            <a:ext cx="10424160" cy="36576"/>
          </a:xfrm>
          <a:prstGeom prst="rect">
            <a:avLst/>
          </a:prstGeom>
          <a:solidFill>
            <a:srgbClr val="F973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914400" y="2194560"/>
            <a:ext cx="2560320" cy="1371600"/>
          </a:xfrm>
          <a:prstGeom prst="rect">
            <a:avLst/>
          </a:prstGeom>
          <a:solidFill>
            <a:srgbClr val="F2F2F2"/>
          </a:solidFill>
          <a:ln w="6350"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5840" y="2240279"/>
            <a:ext cx="237744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1">
                <a:solidFill>
                  <a:srgbClr val="1D1B43"/>
                </a:solidFill>
                <a:latin typeface="Calibri"/>
              </a:rPr>
              <a:t>143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05840" y="3090672"/>
            <a:ext cx="23774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475669"/>
                </a:solidFill>
                <a:latin typeface="Calibri"/>
              </a:rPr>
              <a:t>TOTAL ENTREGAS</a:t>
            </a:r>
          </a:p>
        </p:txBody>
      </p:sp>
      <p:sp>
        <p:nvSpPr>
          <p:cNvPr id="8" name="Rectangle 7"/>
          <p:cNvSpPr/>
          <p:nvPr/>
        </p:nvSpPr>
        <p:spPr>
          <a:xfrm>
            <a:off x="3840480" y="2194560"/>
            <a:ext cx="2560320" cy="1371600"/>
          </a:xfrm>
          <a:prstGeom prst="rect">
            <a:avLst/>
          </a:prstGeom>
          <a:solidFill>
            <a:srgbClr val="F2F2F2"/>
          </a:solidFill>
          <a:ln w="6350"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931920" y="2240279"/>
            <a:ext cx="237744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1">
                <a:solidFill>
                  <a:srgbClr val="10B981"/>
                </a:solidFill>
                <a:latin typeface="Calibri"/>
              </a:rPr>
              <a:t>140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931920" y="3090672"/>
            <a:ext cx="23774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475669"/>
                </a:solidFill>
                <a:latin typeface="Calibri"/>
              </a:rPr>
              <a:t>NO PRAZO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766560" y="2194560"/>
            <a:ext cx="2560320" cy="1371600"/>
          </a:xfrm>
          <a:prstGeom prst="rect">
            <a:avLst/>
          </a:prstGeom>
          <a:solidFill>
            <a:srgbClr val="F2F2F2"/>
          </a:solidFill>
          <a:ln w="6350"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858000" y="2240279"/>
            <a:ext cx="237744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1">
                <a:solidFill>
                  <a:srgbClr val="EF4444"/>
                </a:solidFill>
                <a:latin typeface="Calibri"/>
              </a:rPr>
              <a:t>3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858000" y="3090672"/>
            <a:ext cx="23774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475669"/>
                </a:solidFill>
                <a:latin typeface="Calibri"/>
              </a:rPr>
              <a:t>FORA DO PRAZO</a:t>
            </a:r>
          </a:p>
        </p:txBody>
      </p:sp>
      <p:sp>
        <p:nvSpPr>
          <p:cNvPr id="14" name="Rectangle 13"/>
          <p:cNvSpPr/>
          <p:nvPr/>
        </p:nvSpPr>
        <p:spPr>
          <a:xfrm>
            <a:off x="9692640" y="2194560"/>
            <a:ext cx="2560320" cy="1371600"/>
          </a:xfrm>
          <a:prstGeom prst="rect">
            <a:avLst/>
          </a:prstGeom>
          <a:solidFill>
            <a:srgbClr val="F2F2F2"/>
          </a:solidFill>
          <a:ln w="6350"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784080" y="2240279"/>
            <a:ext cx="237744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1">
                <a:solidFill>
                  <a:srgbClr val="10B981"/>
                </a:solidFill>
                <a:latin typeface="Calibri"/>
              </a:rPr>
              <a:t>97.9%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784080" y="3090672"/>
            <a:ext cx="23774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475669"/>
                </a:solidFill>
                <a:latin typeface="Calibri"/>
              </a:rPr>
              <a:t>TAXA DE SUCESSO</a:t>
            </a:r>
          </a:p>
        </p:txBody>
      </p:sp>
      <p:graphicFrame>
        <p:nvGraphicFramePr>
          <p:cNvPr id="17" name="Table 16"/>
          <p:cNvGraphicFramePr>
            <a:graphicFrameLocks noGrp="1"/>
          </p:cNvGraphicFramePr>
          <p:nvPr/>
        </p:nvGraphicFramePr>
        <p:xfrm>
          <a:off x="1645920" y="3840480"/>
          <a:ext cx="8869680" cy="23774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200400"/>
                <a:gridCol w="1828800"/>
                <a:gridCol w="1828800"/>
                <a:gridCol w="2011680"/>
              </a:tblGrid>
              <a:tr h="475488"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INDICADOR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1"/>
                        <a:t>Abril 2026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1"/>
                        <a:t>Maio 2026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VARIACAO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t>Total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143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143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t>No Prazo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128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140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+12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t>Fora Prazo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15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-12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t>Taxa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89.5%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97.9%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+8.4pp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slide2_img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61904" y="155448"/>
            <a:ext cx="1380744" cy="667512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49808" y="502920"/>
            <a:ext cx="91440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800" b="1">
                <a:solidFill>
                  <a:srgbClr val="F97316"/>
                </a:solidFill>
                <a:latin typeface="Calibri"/>
              </a:rPr>
              <a:t>PERFORMANCE DE ENTREGA</a:t>
            </a:r>
          </a:p>
        </p:txBody>
      </p:sp>
      <p:sp>
        <p:nvSpPr>
          <p:cNvPr id="4" name="Rectangle 3"/>
          <p:cNvSpPr/>
          <p:nvPr/>
        </p:nvSpPr>
        <p:spPr>
          <a:xfrm>
            <a:off x="749808" y="1691640"/>
            <a:ext cx="10424160" cy="36576"/>
          </a:xfrm>
          <a:prstGeom prst="rect">
            <a:avLst/>
          </a:prstGeom>
          <a:solidFill>
            <a:srgbClr val="F973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5" name="Chart 4"/>
          <p:cNvGraphicFramePr>
            <a:graphicFrameLocks noGrp="1"/>
          </p:cNvGraphicFramePr>
          <p:nvPr/>
        </p:nvGraphicFramePr>
        <p:xfrm>
          <a:off x="457200" y="1920240"/>
          <a:ext cx="7315200" cy="384048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7955279" y="2286000"/>
          <a:ext cx="4480560" cy="131673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097280"/>
                <a:gridCol w="914400"/>
                <a:gridCol w="1005840"/>
                <a:gridCol w="640080"/>
                <a:gridCol w="822960"/>
              </a:tblGrid>
              <a:tr h="438912"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MES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TOTAL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NO PRAZO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FORA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%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algn="l"/>
                      <a:r>
                        <a:t>Maio 2026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143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140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97.9%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algn="l"/>
                      <a:r>
                        <a:t>Abril 2026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143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128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15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89.5%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</a:tbl>
          </a:graphicData>
        </a:graphic>
      </p:graphicFrame>
      <p:sp>
        <p:nvSpPr>
          <p:cNvPr id="7" name="Rectangle 6"/>
          <p:cNvSpPr/>
          <p:nvPr/>
        </p:nvSpPr>
        <p:spPr>
          <a:xfrm>
            <a:off x="7955279" y="6035040"/>
            <a:ext cx="4114800" cy="548640"/>
          </a:xfrm>
          <a:prstGeom prst="rect">
            <a:avLst/>
          </a:prstGeom>
          <a:solidFill>
            <a:srgbClr val="F973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001000" y="6080760"/>
            <a:ext cx="40233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Calibri"/>
              </a:rPr>
              <a:t>PERFORMANCE: 89.5% → 97.9% - Bom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slide2_img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61904" y="155448"/>
            <a:ext cx="1380744" cy="667512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49808" y="502920"/>
            <a:ext cx="10058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>
                <a:solidFill>
                  <a:srgbClr val="F97316"/>
                </a:solidFill>
                <a:latin typeface="Calibri"/>
              </a:rPr>
              <a:t>OCORRENCIAS FORA DO PRAZO (3)</a:t>
            </a:r>
          </a:p>
        </p:txBody>
      </p:sp>
      <p:sp>
        <p:nvSpPr>
          <p:cNvPr id="4" name="Rectangle 3"/>
          <p:cNvSpPr/>
          <p:nvPr/>
        </p:nvSpPr>
        <p:spPr>
          <a:xfrm>
            <a:off x="749808" y="1600200"/>
            <a:ext cx="10424160" cy="36576"/>
          </a:xfrm>
          <a:prstGeom prst="rect">
            <a:avLst/>
          </a:prstGeom>
          <a:solidFill>
            <a:srgbClr val="F973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457200" y="1828800"/>
          <a:ext cx="11429999" cy="115214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280160"/>
                <a:gridCol w="3749039"/>
                <a:gridCol w="2103120"/>
                <a:gridCol w="1554480"/>
                <a:gridCol w="2743200"/>
              </a:tblGrid>
              <a:tr h="384048"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MD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DESTINATARIO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CIDADE/UF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PREV. ENTREGA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STATUS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t>281154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CMGL MORUMBI ACESSOR - SA - SA - SAO PAU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SAO PAULO/SP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29/04/2026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ENTREGUE FORA DO PRAZO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t>282392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LAROCCA MODA E ACESS - SA - SA - SAO PAU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SAO PAULO/SP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09/05/2026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ENTREGUE FORA DO PRAZO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slide2_img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61904" y="155448"/>
            <a:ext cx="1380744" cy="667512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49808" y="502920"/>
            <a:ext cx="91440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000" b="1">
                <a:solidFill>
                  <a:srgbClr val="F97316"/>
                </a:solidFill>
                <a:latin typeface="Calibri"/>
              </a:rPr>
              <a:t>PERFORMANCE POR UF</a:t>
            </a:r>
          </a:p>
        </p:txBody>
      </p:sp>
      <p:sp>
        <p:nvSpPr>
          <p:cNvPr id="4" name="Rectangle 3"/>
          <p:cNvSpPr/>
          <p:nvPr/>
        </p:nvSpPr>
        <p:spPr>
          <a:xfrm>
            <a:off x="749808" y="1719072"/>
            <a:ext cx="10424160" cy="36576"/>
          </a:xfrm>
          <a:prstGeom prst="rect">
            <a:avLst/>
          </a:prstGeom>
          <a:solidFill>
            <a:srgbClr val="F973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731520" y="1920240"/>
          <a:ext cx="10698480" cy="438911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097280"/>
                <a:gridCol w="1645920"/>
                <a:gridCol w="1645920"/>
                <a:gridCol w="1645920"/>
                <a:gridCol w="1554480"/>
                <a:gridCol w="3108960"/>
              </a:tblGrid>
              <a:tr h="399010"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UF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TOTAL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NO PRAZO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FORA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TAXA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STATUS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</a:tr>
              <a:tr h="399010">
                <a:tc>
                  <a:txBody>
                    <a:bodyPr/>
                    <a:lstStyle/>
                    <a:p>
                      <a:pPr algn="l"/>
                      <a:r>
                        <a:t>SP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139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136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97.8%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Bom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99010">
                <a:tc>
                  <a:txBody>
                    <a:bodyPr/>
                    <a:lstStyle/>
                    <a:p>
                      <a:pPr algn="l"/>
                      <a:r>
                        <a:t>SC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3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3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0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100.0%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Excelente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399010">
                <a:tc>
                  <a:txBody>
                    <a:bodyPr/>
                    <a:lstStyle/>
                    <a:p>
                      <a:pPr algn="l"/>
                      <a:r>
                        <a:t>PR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100.0%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Excelente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99010">
                <a:tc>
                  <a:txBody>
                    <a:bodyPr/>
                    <a:lstStyle/>
                    <a:p>
                      <a:pPr algn="l"/>
                      <a:r>
                        <a:t/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/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/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/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/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/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399010">
                <a:tc>
                  <a:txBody>
                    <a:bodyPr/>
                    <a:lstStyle/>
                    <a:p>
                      <a:pPr algn="l"/>
                      <a:r>
                        <a:t/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/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/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/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/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/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99010">
                <a:tc>
                  <a:txBody>
                    <a:bodyPr/>
                    <a:lstStyle/>
                    <a:p>
                      <a:pPr algn="l"/>
                      <a:r>
                        <a:t/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/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/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/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/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/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399010">
                <a:tc>
                  <a:txBody>
                    <a:bodyPr/>
                    <a:lstStyle/>
                    <a:p>
                      <a:pPr algn="l"/>
                      <a:r>
                        <a:t/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/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/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/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/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/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99010">
                <a:tc>
                  <a:txBody>
                    <a:bodyPr/>
                    <a:lstStyle/>
                    <a:p>
                      <a:pPr algn="l"/>
                      <a:r>
                        <a:t/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/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/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/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/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/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399010">
                <a:tc>
                  <a:txBody>
                    <a:bodyPr/>
                    <a:lstStyle/>
                    <a:p>
                      <a:pPr algn="l"/>
                      <a:r>
                        <a:t/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/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/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/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/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/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99010">
                <a:tc>
                  <a:txBody>
                    <a:bodyPr/>
                    <a:lstStyle/>
                    <a:p>
                      <a:pPr algn="l"/>
                      <a:r>
                        <a:t/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/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/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/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/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/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slide2_img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61904" y="155448"/>
            <a:ext cx="1380744" cy="667512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49808" y="502920"/>
            <a:ext cx="10058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F97316"/>
                </a:solidFill>
                <a:latin typeface="Calibri"/>
              </a:rPr>
              <a:t>TOP DESTINATARIOS (98 pontos)</a:t>
            </a:r>
          </a:p>
        </p:txBody>
      </p:sp>
      <p:sp>
        <p:nvSpPr>
          <p:cNvPr id="4" name="Rectangle 3"/>
          <p:cNvSpPr/>
          <p:nvPr/>
        </p:nvSpPr>
        <p:spPr>
          <a:xfrm>
            <a:off x="749808" y="1664208"/>
            <a:ext cx="10424160" cy="36576"/>
          </a:xfrm>
          <a:prstGeom prst="rect">
            <a:avLst/>
          </a:prstGeom>
          <a:solidFill>
            <a:srgbClr val="F973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365760" y="1828800"/>
          <a:ext cx="11521440" cy="43891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57200"/>
                <a:gridCol w="3931920"/>
                <a:gridCol w="1005840"/>
                <a:gridCol w="1280160"/>
                <a:gridCol w="731520"/>
                <a:gridCol w="1188720"/>
                <a:gridCol w="2926080"/>
              </a:tblGrid>
              <a:tr h="292608"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#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DESTINATARIO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TOTAL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NO PRAZO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FORA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TAXA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STATUS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t>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BSG BIJOU BRASIL COM - SA - SAO PAULO / 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69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68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98.6%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Excelente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t>2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VMS BIJUTERIAS E ACE - SA - SAO PAULO / 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12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12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0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100.0%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Excelente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t>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CMC LITTLE STORE LTD - SA - SAO PAULO / 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100.0%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Excelente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t>4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CMC LUNA ACESSORIOS - SAO - SAO CAETANO 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6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6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0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100.0%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Excelente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t>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CMGL MORUMBI ACESSOR - SA - SAO PAULO / 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83.3%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Crítico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t>6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LAROCCA MODA E ACESS - SA - SAO PAULO / 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6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5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1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83.3%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Crítico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t>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SASAKI MODA E ACESSO - SA - SAO PAULO / 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100.0%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Excelente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t>8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BL TIJU ACESSORIOS L - SA - SAO PAULO / 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5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5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0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100.0%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Excelente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t>9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BM MODAS E ACESSORIO - CA - CAMPINAS / 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100.0%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Excelente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t>10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MAJO MODAS E ACESSOR - MO - MOGI GUACU /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5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5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0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100.0%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Excelente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t>11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GIRASSOL ACESSORIOS - SAO - SAO PAULO / 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100.0%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Excelente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t>12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BL ANALIA BIJUTERIAS - SA - SAO PAULO / 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5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5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0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100.0%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Excelente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t>13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BSG BIJOU BRASIL COM - IT - ITAJAI / SC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100.0%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Excelente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t>14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RAPIDO XAPURI TRANSP - GU - GUARULHOS / 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2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2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0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100.0%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Excelente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3" name="Imagem 2" descr="Logotipo&#10;&#10;O conteúdo gerado por IA pode estar incorreto.">
            <a:extLst>
              <a:ext uri="{FF2B5EF4-FFF2-40B4-BE49-F238E27FC236}">
                <a16:creationId xmlns:a16="http://schemas.microsoft.com/office/drawing/2014/main" id="{ED35CF5C-88F5-A17C-6A93-CAB0F2FC293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8881" y="2171286"/>
            <a:ext cx="4569347" cy="1374375"/>
          </a:xfrm>
          <a:prstGeom prst="rect">
            <a:avLst/>
          </a:prstGeom>
        </p:spPr>
      </p:pic>
      <p:sp>
        <p:nvSpPr>
          <p:cNvPr id="30" name="sketch line">
            <a:extLst>
              <a:ext uri="{FF2B5EF4-FFF2-40B4-BE49-F238E27FC236}">
                <a16:creationId xmlns:a16="http://schemas.microsoft.com/office/drawing/2014/main" id="{D6A9C53F-5F90-40A5-8C85-5412D39C8C6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450080" y="5594358"/>
            <a:ext cx="3291840" cy="18288"/>
          </a:xfrm>
          <a:custGeom>
            <a:avLst/>
            <a:gdLst>
              <a:gd name="csX0" fmla="*/ 0 w 3291840"/>
              <a:gd name="csY0" fmla="*/ 0 h 18288"/>
              <a:gd name="csX1" fmla="*/ 658368 w 3291840"/>
              <a:gd name="csY1" fmla="*/ 0 h 18288"/>
              <a:gd name="csX2" fmla="*/ 1283818 w 3291840"/>
              <a:gd name="csY2" fmla="*/ 0 h 18288"/>
              <a:gd name="csX3" fmla="*/ 1909267 w 3291840"/>
              <a:gd name="csY3" fmla="*/ 0 h 18288"/>
              <a:gd name="csX4" fmla="*/ 2633472 w 3291840"/>
              <a:gd name="csY4" fmla="*/ 0 h 18288"/>
              <a:gd name="csX5" fmla="*/ 3291840 w 3291840"/>
              <a:gd name="csY5" fmla="*/ 0 h 18288"/>
              <a:gd name="csX6" fmla="*/ 3291840 w 3291840"/>
              <a:gd name="csY6" fmla="*/ 18288 h 18288"/>
              <a:gd name="csX7" fmla="*/ 2633472 w 3291840"/>
              <a:gd name="csY7" fmla="*/ 18288 h 18288"/>
              <a:gd name="csX8" fmla="*/ 2073859 w 3291840"/>
              <a:gd name="csY8" fmla="*/ 18288 h 18288"/>
              <a:gd name="csX9" fmla="*/ 1448410 w 3291840"/>
              <a:gd name="csY9" fmla="*/ 18288 h 18288"/>
              <a:gd name="csX10" fmla="*/ 822960 w 3291840"/>
              <a:gd name="csY10" fmla="*/ 18288 h 18288"/>
              <a:gd name="csX11" fmla="*/ 0 w 3291840"/>
              <a:gd name="csY11" fmla="*/ 18288 h 18288"/>
              <a:gd name="csX12" fmla="*/ 0 w 3291840"/>
              <a:gd name="csY12" fmla="*/ 0 h 18288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</a:cxnLst>
            <a:rect l="l" t="t" r="r" b="b"/>
            <a:pathLst>
              <a:path w="3291840" h="18288" fill="none" extrusionOk="0">
                <a:moveTo>
                  <a:pt x="0" y="0"/>
                </a:moveTo>
                <a:cubicBezTo>
                  <a:pt x="173077" y="-20031"/>
                  <a:pt x="443104" y="6424"/>
                  <a:pt x="658368" y="0"/>
                </a:cubicBezTo>
                <a:cubicBezTo>
                  <a:pt x="873632" y="-6424"/>
                  <a:pt x="1034028" y="11764"/>
                  <a:pt x="1283818" y="0"/>
                </a:cubicBezTo>
                <a:cubicBezTo>
                  <a:pt x="1533608" y="-11764"/>
                  <a:pt x="1691227" y="-30112"/>
                  <a:pt x="1909267" y="0"/>
                </a:cubicBezTo>
                <a:cubicBezTo>
                  <a:pt x="2127307" y="30112"/>
                  <a:pt x="2272465" y="-18735"/>
                  <a:pt x="2633472" y="0"/>
                </a:cubicBezTo>
                <a:cubicBezTo>
                  <a:pt x="2994479" y="18735"/>
                  <a:pt x="3023324" y="-32030"/>
                  <a:pt x="3291840" y="0"/>
                </a:cubicBezTo>
                <a:cubicBezTo>
                  <a:pt x="3291406" y="7551"/>
                  <a:pt x="3291373" y="9822"/>
                  <a:pt x="3291840" y="18288"/>
                </a:cubicBezTo>
                <a:cubicBezTo>
                  <a:pt x="3048445" y="38989"/>
                  <a:pt x="2846548" y="-14400"/>
                  <a:pt x="2633472" y="18288"/>
                </a:cubicBezTo>
                <a:cubicBezTo>
                  <a:pt x="2420396" y="50976"/>
                  <a:pt x="2304099" y="6336"/>
                  <a:pt x="2073859" y="18288"/>
                </a:cubicBezTo>
                <a:cubicBezTo>
                  <a:pt x="1843619" y="30240"/>
                  <a:pt x="1706926" y="10778"/>
                  <a:pt x="1448410" y="18288"/>
                </a:cubicBezTo>
                <a:cubicBezTo>
                  <a:pt x="1189894" y="25798"/>
                  <a:pt x="1002278" y="8992"/>
                  <a:pt x="822960" y="18288"/>
                </a:cubicBezTo>
                <a:cubicBezTo>
                  <a:pt x="643642" y="27585"/>
                  <a:pt x="307039" y="38051"/>
                  <a:pt x="0" y="18288"/>
                </a:cubicBezTo>
                <a:cubicBezTo>
                  <a:pt x="60" y="11696"/>
                  <a:pt x="66" y="3758"/>
                  <a:pt x="0" y="0"/>
                </a:cubicBezTo>
                <a:close/>
              </a:path>
              <a:path w="3291840" h="18288" stroke="0" extrusionOk="0">
                <a:moveTo>
                  <a:pt x="0" y="0"/>
                </a:moveTo>
                <a:cubicBezTo>
                  <a:pt x="195850" y="28018"/>
                  <a:pt x="434891" y="17390"/>
                  <a:pt x="592531" y="0"/>
                </a:cubicBezTo>
                <a:cubicBezTo>
                  <a:pt x="750171" y="-17390"/>
                  <a:pt x="1018709" y="32200"/>
                  <a:pt x="1316736" y="0"/>
                </a:cubicBezTo>
                <a:cubicBezTo>
                  <a:pt x="1614763" y="-32200"/>
                  <a:pt x="1696480" y="-11367"/>
                  <a:pt x="1876349" y="0"/>
                </a:cubicBezTo>
                <a:cubicBezTo>
                  <a:pt x="2056218" y="11367"/>
                  <a:pt x="2193364" y="13433"/>
                  <a:pt x="2435962" y="0"/>
                </a:cubicBezTo>
                <a:cubicBezTo>
                  <a:pt x="2678560" y="-13433"/>
                  <a:pt x="3010901" y="-42367"/>
                  <a:pt x="3291840" y="0"/>
                </a:cubicBezTo>
                <a:cubicBezTo>
                  <a:pt x="3291758" y="4406"/>
                  <a:pt x="3291751" y="9982"/>
                  <a:pt x="3291840" y="18288"/>
                </a:cubicBezTo>
                <a:cubicBezTo>
                  <a:pt x="3108993" y="14228"/>
                  <a:pt x="2952658" y="46900"/>
                  <a:pt x="2666390" y="18288"/>
                </a:cubicBezTo>
                <a:cubicBezTo>
                  <a:pt x="2380122" y="-10324"/>
                  <a:pt x="2263855" y="41055"/>
                  <a:pt x="2040941" y="18288"/>
                </a:cubicBezTo>
                <a:cubicBezTo>
                  <a:pt x="1818027" y="-4479"/>
                  <a:pt x="1675097" y="6509"/>
                  <a:pt x="1415491" y="18288"/>
                </a:cubicBezTo>
                <a:cubicBezTo>
                  <a:pt x="1155885" y="30068"/>
                  <a:pt x="852976" y="36210"/>
                  <a:pt x="691286" y="18288"/>
                </a:cubicBezTo>
                <a:cubicBezTo>
                  <a:pt x="529596" y="366"/>
                  <a:pt x="187183" y="13912"/>
                  <a:pt x="0" y="18288"/>
                </a:cubicBezTo>
                <a:cubicBezTo>
                  <a:pt x="189" y="14288"/>
                  <a:pt x="-703" y="3747"/>
                  <a:pt x="0" y="0"/>
                </a:cubicBezTo>
                <a:close/>
              </a:path>
            </a:pathLst>
          </a:custGeom>
          <a:solidFill>
            <a:schemeClr val="accent2"/>
          </a:solidFill>
          <a:ln w="41275" cap="rnd">
            <a:solidFill>
              <a:schemeClr val="accent2"/>
            </a:solidFill>
            <a:round/>
            <a:extLst>
              <a:ext uri="{C807C97D-BFC1-408E-A445-0C87EB9F89A2}">
                <ask:lineSketchStyleProps xmlns:ask="http://schemas.microsoft.com/office/drawing/2018/sketchyshapes" sd="2863741219">
                  <a:prstGeom prst="rect">
                    <a:avLst/>
                  </a:prstGeom>
                  <ask:type>
                    <ask:lineSketchFreehand/>
                  </ask:type>
                </ask:lineSketchStyleProps>
              </a:ext>
            </a:extLst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6" name="Imagem 5" descr="Logotipo, nome da empresa&#10;&#10;Descrição gerada automaticamente">
            <a:extLst>
              <a:ext uri="{FF2B5EF4-FFF2-40B4-BE49-F238E27FC236}">
                <a16:creationId xmlns:a16="http://schemas.microsoft.com/office/drawing/2014/main" id="{34AC1B7C-9A66-44B7-9FBA-8044577DDA78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078389" y="1167431"/>
            <a:ext cx="4924159" cy="2378231"/>
          </a:xfrm>
          <a:prstGeom prst="rect">
            <a:avLst/>
          </a:prstGeom>
        </p:spPr>
      </p:pic>
      <p:sp>
        <p:nvSpPr>
          <p:cNvPr id="2" name="Título 1">
            <a:extLst>
              <a:ext uri="{FF2B5EF4-FFF2-40B4-BE49-F238E27FC236}">
                <a16:creationId xmlns:a16="http://schemas.microsoft.com/office/drawing/2014/main" id="{47492DD1-345A-4D4F-AF38-59BC372A4F8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38881" y="4501453"/>
            <a:ext cx="10909640" cy="1065836"/>
          </a:xfrm>
        </p:spPr>
        <p:txBody>
          <a:bodyPr vert="horz" lIns="91440" tIns="45720" rIns="91440" bIns="45720" rtlCol="0" anchor="ctr">
            <a:normAutofit/>
          </a:bodyPr>
          <a:lstStyle/>
          <a:p>
            <a:pPr algn="ctr"/>
            <a:r>
              <a:rPr lang="en-US" sz="6600" b="1" dirty="0">
                <a:solidFill>
                  <a:schemeClr val="accent2"/>
                </a:solidFill>
                <a:latin typeface="+mn-lt"/>
              </a:rPr>
              <a:t>OBRIGADA</a:t>
            </a:r>
          </a:p>
        </p:txBody>
      </p:sp>
      <p:sp useBgFill="1">
        <p:nvSpPr>
          <p:cNvPr id="29" name="Rectangle 22">
            <a:extLst>
              <a:ext uri="{FF2B5EF4-FFF2-40B4-BE49-F238E27FC236}">
                <a16:creationId xmlns:a16="http://schemas.microsoft.com/office/drawing/2014/main" id="{F0087D53-9295-4463-AAE4-D5C626046E9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88952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