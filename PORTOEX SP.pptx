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No Prazo</c:v>
                </c:pt>
              </c:strCache>
            </c:strRef>
          </c:tx>
          <c:spPr>
            <a:solidFill>
              <a:srgbClr val="1D1B43"/>
            </a:solidFill>
          </c:spPr>
          <c:cat>
            <c:strRef>
              <c:f>Sheet1!$A$2:$A$3</c:f>
              <c:strCache>
                <c:ptCount val="2"/>
                <c:pt idx="0">
                  <c:v>Marco 2026</c:v>
                </c:pt>
                <c:pt idx="1">
                  <c:v>Abril 2026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27</c:v>
                </c:pt>
                <c:pt idx="1">
                  <c:v>82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Fora do Prazo</c:v>
                </c:pt>
              </c:strCache>
            </c:strRef>
          </c:tx>
          <c:spPr>
            <a:solidFill>
              <a:srgbClr val="F97316"/>
            </a:solidFill>
          </c:spPr>
          <c:cat>
            <c:strRef>
              <c:f>Sheet1!$A$2:$A$3</c:f>
              <c:strCache>
                <c:ptCount val="2"/>
                <c:pt idx="0">
                  <c:v>Marco 2026</c:v>
                </c:pt>
                <c:pt idx="1">
                  <c:v>Abril 2026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1</c:v>
                </c:pt>
                <c:pt idx="1">
                  <c:v>1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1_img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12664" y="0"/>
            <a:ext cx="6876288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04088" y="82296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F97316"/>
                </a:solidFill>
                <a:latin typeface="Calibri"/>
              </a:rPr>
              <a:t>RELATORIO 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78308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F97316"/>
                </a:solidFill>
                <a:latin typeface="Calibri"/>
              </a:rPr>
              <a:t>DESEMPENHO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47472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D1B43"/>
                </a:solidFill>
                <a:latin typeface="Calibri"/>
              </a:rPr>
              <a:t>INDICADORES ABRIL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704088" y="3913632"/>
            <a:ext cx="347472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4114800"/>
            <a:ext cx="4754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D1B43"/>
                </a:solidFill>
                <a:latin typeface="Calibri"/>
              </a:rPr>
              <a:t>PORTOEX SP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34656" y="5943600"/>
            <a:ext cx="3474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Nossa rota e ir alem das
entregas!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97316"/>
                </a:solidFill>
                <a:latin typeface="Calibri"/>
              </a:rPr>
              <a:t>RESUMO DA OPERACAO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874519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1440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240279"/>
            <a:ext cx="2377439" cy="8915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D1B43"/>
                </a:solidFill>
                <a:latin typeface="Calibri"/>
              </a:rPr>
              <a:t>83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058668"/>
            <a:ext cx="237743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TOTAL ENTREGAS</a:t>
            </a:r>
          </a:p>
        </p:txBody>
      </p:sp>
      <p:sp>
        <p:nvSpPr>
          <p:cNvPr id="8" name="Rectangle 7"/>
          <p:cNvSpPr/>
          <p:nvPr/>
        </p:nvSpPr>
        <p:spPr>
          <a:xfrm>
            <a:off x="384048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931920" y="2240279"/>
            <a:ext cx="2377439" cy="8915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0B981"/>
                </a:solidFill>
                <a:latin typeface="Calibri"/>
              </a:rPr>
              <a:t>82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0" y="3058668"/>
            <a:ext cx="237743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NO PRAZO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76656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0" y="2240279"/>
            <a:ext cx="2377439" cy="8915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EF4444"/>
                </a:solidFill>
                <a:latin typeface="Calibr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0" y="3058668"/>
            <a:ext cx="237743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FORA DO PRAZO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9264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784080" y="2240279"/>
            <a:ext cx="2377439" cy="8915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0B981"/>
                </a:solidFill>
                <a:latin typeface="Calibri"/>
              </a:rPr>
              <a:t>98.8%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84080" y="3058668"/>
            <a:ext cx="237743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TAXA DE SUCESSO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1645920" y="3840480"/>
          <a:ext cx="886968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1828800"/>
                <a:gridCol w="1828800"/>
                <a:gridCol w="2011680"/>
              </a:tblGrid>
              <a:tr h="475488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INDICADOR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Marco 2026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Abril 2026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VARIACAO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Total Entregas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+ 55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+ 55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Fora do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- 0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Taxa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96.4%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98.8%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+ 2.4pp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97316"/>
                </a:solidFill>
                <a:latin typeface="Calibri"/>
              </a:rPr>
              <a:t>PERFORMANCE DE ENTREGA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91640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57200" y="1920240"/>
          <a:ext cx="7315200" cy="38404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955279" y="2286000"/>
          <a:ext cx="4480560" cy="13167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914400"/>
                <a:gridCol w="1005840"/>
                <a:gridCol w="640080"/>
                <a:gridCol w="822960"/>
              </a:tblGrid>
              <a:tr h="438912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MES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%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Marco 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96.4%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Abril 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98.8%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7955279" y="6035040"/>
            <a:ext cx="4114800" cy="54864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01000" y="6080760"/>
            <a:ext cx="4023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PERFORMANCE: 98.8% - EXCELENTE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97316"/>
                </a:solidFill>
                <a:latin typeface="Calibri"/>
              </a:rPr>
              <a:t>OCORRENCIAS FORA DO PRAZO (1)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00200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828800"/>
          <a:ext cx="11429999" cy="7680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3749039"/>
                <a:gridCol w="2103120"/>
                <a:gridCol w="1554480"/>
                <a:gridCol w="2743200"/>
              </a:tblGrid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MD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DESTINATARIO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CIDADE/UF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PREV. ENTREGA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279664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FF DO BRASIL COMERCI - SAO PAULO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SAO PAULO/SP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23/04/2026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97316"/>
                </a:solidFill>
                <a:latin typeface="Calibri"/>
              </a:rPr>
              <a:t>PERFORMANCE POR UF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719072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920240"/>
          <a:ext cx="1069848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1645920"/>
                <a:gridCol w="1645920"/>
                <a:gridCol w="1645920"/>
                <a:gridCol w="1554480"/>
                <a:gridCol w="3108960"/>
              </a:tblGrid>
              <a:tr h="457200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UF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TAXA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78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78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75.0%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Atencao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PR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97316"/>
                </a:solidFill>
                <a:latin typeface="Calibri"/>
              </a:rPr>
              <a:t>TOP DESTINATARIOS (48 pontos)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64208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828800"/>
          <a:ext cx="1152144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/>
                <a:gridCol w="3931920"/>
                <a:gridCol w="1005840"/>
                <a:gridCol w="1280160"/>
                <a:gridCol w="731520"/>
                <a:gridCol w="1188720"/>
                <a:gridCol w="2926080"/>
              </a:tblGrid>
              <a:tr h="292608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DESTINATARIO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TAXA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LIGHT ENGINE ILUMINA - ITAJAI / SC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SHPY COMERCIO DE MAT - NAVEGANTES / SC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WIK S PERSONALIZADOS - ITAJAI / SC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ANDRA S A ELECTRIC S - JOINVILLE / SC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FF DO BRASIL COMERCI - ARAQUARI / SC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FF DO BRASIL COMERCI - SAO PAULO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Atencao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ANA RITA BENETTI - FLORIANOPOLIS / SC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ANTROPOCENO ENGENHAR - PALHOCA / SC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CLECI BORGES DE OLIV - JARAGUA DO SUL / SC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CARLOS EDUARDO CORRE - ITAJAI / SC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COMANDO 14A BRIGADA - FLORIANOPOLIS / SC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COTESA ENGENHARIA LT - FLORIANOPOLIS / SC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DHL SUPPLY CHAIN (BR - ITAPOA / SC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BIO MEDS PHARMACEUTI - FLORIANOPOLIS / SC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3" name="Imagem 2" descr="Logotipo&#10;&#10;O conteúdo gerado por IA pode estar incorreto.">
            <a:extLst>
              <a:ext uri="{FF2B5EF4-FFF2-40B4-BE49-F238E27FC236}">
                <a16:creationId xmlns:a16="http://schemas.microsoft.com/office/drawing/2014/main" id="{ED35CF5C-88F5-A17C-6A93-CAB0F2FC29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881" y="2171286"/>
            <a:ext cx="4569347" cy="1374375"/>
          </a:xfrm>
          <a:prstGeom prst="rect">
            <a:avLst/>
          </a:prstGeom>
        </p:spPr>
      </p:pic>
      <p:sp>
        <p:nvSpPr>
          <p:cNvPr id="30" name="sketch line">
            <a:extLst>
              <a:ext uri="{FF2B5EF4-FFF2-40B4-BE49-F238E27FC236}">
                <a16:creationId xmlns:a16="http://schemas.microsoft.com/office/drawing/2014/main" id="{D6A9C53F-5F90-40A5-8C85-5412D39C8C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50080" y="5594358"/>
            <a:ext cx="3291840" cy="18288"/>
          </a:xfrm>
          <a:custGeom>
            <a:avLst/>
            <a:gdLst>
              <a:gd name="csX0" fmla="*/ 0 w 3291840"/>
              <a:gd name="csY0" fmla="*/ 0 h 18288"/>
              <a:gd name="csX1" fmla="*/ 658368 w 3291840"/>
              <a:gd name="csY1" fmla="*/ 0 h 18288"/>
              <a:gd name="csX2" fmla="*/ 1283818 w 3291840"/>
              <a:gd name="csY2" fmla="*/ 0 h 18288"/>
              <a:gd name="csX3" fmla="*/ 1909267 w 3291840"/>
              <a:gd name="csY3" fmla="*/ 0 h 18288"/>
              <a:gd name="csX4" fmla="*/ 2633472 w 3291840"/>
              <a:gd name="csY4" fmla="*/ 0 h 18288"/>
              <a:gd name="csX5" fmla="*/ 3291840 w 3291840"/>
              <a:gd name="csY5" fmla="*/ 0 h 18288"/>
              <a:gd name="csX6" fmla="*/ 3291840 w 3291840"/>
              <a:gd name="csY6" fmla="*/ 18288 h 18288"/>
              <a:gd name="csX7" fmla="*/ 2633472 w 3291840"/>
              <a:gd name="csY7" fmla="*/ 18288 h 18288"/>
              <a:gd name="csX8" fmla="*/ 2073859 w 3291840"/>
              <a:gd name="csY8" fmla="*/ 18288 h 18288"/>
              <a:gd name="csX9" fmla="*/ 1448410 w 3291840"/>
              <a:gd name="csY9" fmla="*/ 18288 h 18288"/>
              <a:gd name="csX10" fmla="*/ 822960 w 3291840"/>
              <a:gd name="csY10" fmla="*/ 18288 h 18288"/>
              <a:gd name="csX11" fmla="*/ 0 w 3291840"/>
              <a:gd name="csY11" fmla="*/ 18288 h 18288"/>
              <a:gd name="csX12" fmla="*/ 0 w 3291840"/>
              <a:gd name="csY12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3291840" h="18288" fill="none" extrusionOk="0">
                <a:moveTo>
                  <a:pt x="0" y="0"/>
                </a:moveTo>
                <a:cubicBezTo>
                  <a:pt x="173077" y="-20031"/>
                  <a:pt x="443104" y="6424"/>
                  <a:pt x="658368" y="0"/>
                </a:cubicBezTo>
                <a:cubicBezTo>
                  <a:pt x="873632" y="-6424"/>
                  <a:pt x="1034028" y="11764"/>
                  <a:pt x="1283818" y="0"/>
                </a:cubicBezTo>
                <a:cubicBezTo>
                  <a:pt x="1533608" y="-11764"/>
                  <a:pt x="1691227" y="-30112"/>
                  <a:pt x="1909267" y="0"/>
                </a:cubicBezTo>
                <a:cubicBezTo>
                  <a:pt x="2127307" y="30112"/>
                  <a:pt x="2272465" y="-18735"/>
                  <a:pt x="2633472" y="0"/>
                </a:cubicBezTo>
                <a:cubicBezTo>
                  <a:pt x="2994479" y="18735"/>
                  <a:pt x="3023324" y="-32030"/>
                  <a:pt x="3291840" y="0"/>
                </a:cubicBezTo>
                <a:cubicBezTo>
                  <a:pt x="3291406" y="7551"/>
                  <a:pt x="3291373" y="9822"/>
                  <a:pt x="3291840" y="18288"/>
                </a:cubicBezTo>
                <a:cubicBezTo>
                  <a:pt x="3048445" y="38989"/>
                  <a:pt x="2846548" y="-14400"/>
                  <a:pt x="2633472" y="18288"/>
                </a:cubicBezTo>
                <a:cubicBezTo>
                  <a:pt x="2420396" y="50976"/>
                  <a:pt x="2304099" y="6336"/>
                  <a:pt x="2073859" y="18288"/>
                </a:cubicBezTo>
                <a:cubicBezTo>
                  <a:pt x="1843619" y="30240"/>
                  <a:pt x="1706926" y="10778"/>
                  <a:pt x="1448410" y="18288"/>
                </a:cubicBezTo>
                <a:cubicBezTo>
                  <a:pt x="1189894" y="25798"/>
                  <a:pt x="1002278" y="8992"/>
                  <a:pt x="822960" y="18288"/>
                </a:cubicBezTo>
                <a:cubicBezTo>
                  <a:pt x="643642" y="27585"/>
                  <a:pt x="307039" y="38051"/>
                  <a:pt x="0" y="18288"/>
                </a:cubicBezTo>
                <a:cubicBezTo>
                  <a:pt x="60" y="11696"/>
                  <a:pt x="66" y="3758"/>
                  <a:pt x="0" y="0"/>
                </a:cubicBezTo>
                <a:close/>
              </a:path>
              <a:path w="3291840" h="18288" stroke="0" extrusionOk="0">
                <a:moveTo>
                  <a:pt x="0" y="0"/>
                </a:moveTo>
                <a:cubicBezTo>
                  <a:pt x="195850" y="28018"/>
                  <a:pt x="434891" y="17390"/>
                  <a:pt x="592531" y="0"/>
                </a:cubicBezTo>
                <a:cubicBezTo>
                  <a:pt x="750171" y="-17390"/>
                  <a:pt x="1018709" y="32200"/>
                  <a:pt x="1316736" y="0"/>
                </a:cubicBezTo>
                <a:cubicBezTo>
                  <a:pt x="1614763" y="-32200"/>
                  <a:pt x="1696480" y="-11367"/>
                  <a:pt x="1876349" y="0"/>
                </a:cubicBezTo>
                <a:cubicBezTo>
                  <a:pt x="2056218" y="11367"/>
                  <a:pt x="2193364" y="13433"/>
                  <a:pt x="2435962" y="0"/>
                </a:cubicBezTo>
                <a:cubicBezTo>
                  <a:pt x="2678560" y="-13433"/>
                  <a:pt x="3010901" y="-42367"/>
                  <a:pt x="3291840" y="0"/>
                </a:cubicBezTo>
                <a:cubicBezTo>
                  <a:pt x="3291758" y="4406"/>
                  <a:pt x="3291751" y="9982"/>
                  <a:pt x="3291840" y="18288"/>
                </a:cubicBezTo>
                <a:cubicBezTo>
                  <a:pt x="3108993" y="14228"/>
                  <a:pt x="2952658" y="46900"/>
                  <a:pt x="2666390" y="18288"/>
                </a:cubicBezTo>
                <a:cubicBezTo>
                  <a:pt x="2380122" y="-10324"/>
                  <a:pt x="2263855" y="41055"/>
                  <a:pt x="2040941" y="18288"/>
                </a:cubicBezTo>
                <a:cubicBezTo>
                  <a:pt x="1818027" y="-4479"/>
                  <a:pt x="1675097" y="6509"/>
                  <a:pt x="1415491" y="18288"/>
                </a:cubicBezTo>
                <a:cubicBezTo>
                  <a:pt x="1155885" y="30068"/>
                  <a:pt x="852976" y="36210"/>
                  <a:pt x="691286" y="18288"/>
                </a:cubicBezTo>
                <a:cubicBezTo>
                  <a:pt x="529596" y="366"/>
                  <a:pt x="187183" y="13912"/>
                  <a:pt x="0" y="18288"/>
                </a:cubicBezTo>
                <a:cubicBezTo>
                  <a:pt x="189" y="14288"/>
                  <a:pt x="-703" y="374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863741219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Imagem 5" descr="Logotipo, nome da empresa&#10;&#10;Descrição gerada automaticamente">
            <a:extLst>
              <a:ext uri="{FF2B5EF4-FFF2-40B4-BE49-F238E27FC236}">
                <a16:creationId xmlns:a16="http://schemas.microsoft.com/office/drawing/2014/main" id="{34AC1B7C-9A66-44B7-9FBA-8044577DDA7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78389" y="1167431"/>
            <a:ext cx="4924159" cy="2378231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47492DD1-345A-4D4F-AF38-59BC372A4F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81" y="4501453"/>
            <a:ext cx="10909640" cy="106583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6600" b="1" dirty="0">
                <a:solidFill>
                  <a:schemeClr val="accent2"/>
                </a:solidFill>
                <a:latin typeface="+mn-lt"/>
              </a:rPr>
              <a:t>OBRIGADA</a:t>
            </a:r>
          </a:p>
        </p:txBody>
      </p:sp>
      <p:sp useBgFill="1">
        <p:nvSpPr>
          <p:cNvPr id="29" name="Rectangle 22">
            <a:extLst>
              <a:ext uri="{FF2B5EF4-FFF2-40B4-BE49-F238E27FC236}">
                <a16:creationId xmlns:a16="http://schemas.microsoft.com/office/drawing/2014/main" id="{F0087D53-9295-4463-AAE4-D5C626046E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