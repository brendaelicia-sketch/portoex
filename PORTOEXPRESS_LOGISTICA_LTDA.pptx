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No Prazo</c:v>
                </c:pt>
              </c:strCache>
            </c:strRef>
          </c:tx>
          <c:spPr>
            <a:solidFill>
              <a:srgbClr val="1D1B43"/>
            </a:solidFill>
          </c:spPr>
          <c:cat>
            <c:strRef>
              <c:f>Sheet1!$A$2:$A$2</c:f>
              <c:strCache>
                <c:ptCount val="1"/>
                <c:pt idx="0">
                  <c:v>Abril 2026</c:v>
                </c:pt>
              </c:strCache>
            </c:strRef>
          </c:cat>
          <c:val>
            <c:numRef>
              <c:f>Sheet1!$B$2:$B$2</c:f>
              <c:numCache>
                <c:formatCode>General</c:formatCode>
                <c:ptCount val="1"/>
                <c:pt idx="0">
                  <c:v>39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Fora do Prazo</c:v>
                </c:pt>
              </c:strCache>
            </c:strRef>
          </c:tx>
          <c:spPr>
            <a:solidFill>
              <a:srgbClr val="F97316"/>
            </a:solidFill>
          </c:spPr>
          <c:cat>
            <c:strRef>
              <c:f>Sheet1!$A$2:$A$2</c:f>
              <c:strCache>
                <c:ptCount val="1"/>
                <c:pt idx="0">
                  <c:v>Abril 2026</c:v>
                </c:pt>
              </c:strCache>
            </c:strRef>
          </c:cat>
          <c:val>
            <c:numRef>
              <c:f>Sheet1!$C$2:$C$2</c:f>
              <c:numCache>
                <c:formatCode>General</c:formatCode>
                <c:ptCount val="1"/>
                <c:pt idx="0">
                  <c:v>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legend>
      <c:legendPos val="b"/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1_img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12664" y="0"/>
            <a:ext cx="6876288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04088" y="82296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RELATORIO DE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04088" y="1783080"/>
            <a:ext cx="4572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800" b="1">
                <a:solidFill>
                  <a:srgbClr val="F97316"/>
                </a:solidFill>
                <a:latin typeface="Calibri"/>
              </a:rPr>
              <a:t>DESEMPENHO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04088" y="3474720"/>
            <a:ext cx="4572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>
                <a:solidFill>
                  <a:srgbClr val="1D1B43"/>
                </a:solidFill>
                <a:latin typeface="Calibri"/>
              </a:rPr>
              <a:t>INDICADORES ABRIL 2026</a:t>
            </a:r>
          </a:p>
        </p:txBody>
      </p:sp>
      <p:sp>
        <p:nvSpPr>
          <p:cNvPr id="6" name="Rectangle 5"/>
          <p:cNvSpPr/>
          <p:nvPr/>
        </p:nvSpPr>
        <p:spPr>
          <a:xfrm>
            <a:off x="704088" y="3913632"/>
            <a:ext cx="347472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4114800"/>
            <a:ext cx="47548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1D1B43"/>
                </a:solidFill>
                <a:latin typeface="Calibri"/>
              </a:rPr>
              <a:t>PORTOEXPRESS LOGISTICA LTDA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34656" y="5943600"/>
            <a:ext cx="34747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Nossa rota e ir alem das entregas!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400" b="1">
                <a:solidFill>
                  <a:srgbClr val="F97316"/>
                </a:solidFill>
                <a:latin typeface="Calibri"/>
              </a:rPr>
              <a:t>RESUMO DA OPERACAO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874519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D1B43"/>
                </a:solidFill>
                <a:latin typeface="Calibri"/>
              </a:rPr>
              <a:t>40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TOTAL ENTREGAS</a:t>
            </a:r>
          </a:p>
        </p:txBody>
      </p:sp>
      <p:sp>
        <p:nvSpPr>
          <p:cNvPr id="8" name="Rectangle 7"/>
          <p:cNvSpPr/>
          <p:nvPr/>
        </p:nvSpPr>
        <p:spPr>
          <a:xfrm>
            <a:off x="384048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39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93192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NO PRAZO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76656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EF4444"/>
                </a:solidFill>
                <a:latin typeface="Calibri"/>
              </a:rPr>
              <a:t>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FORA DO PRAZO</a:t>
            </a:r>
          </a:p>
        </p:txBody>
      </p:sp>
      <p:sp>
        <p:nvSpPr>
          <p:cNvPr id="14" name="Rectangle 13"/>
          <p:cNvSpPr/>
          <p:nvPr/>
        </p:nvSpPr>
        <p:spPr>
          <a:xfrm>
            <a:off x="9692640" y="2194560"/>
            <a:ext cx="2560320" cy="1371600"/>
          </a:xfrm>
          <a:prstGeom prst="rect">
            <a:avLst/>
          </a:prstGeom>
          <a:solidFill>
            <a:srgbClr val="F2F2F2"/>
          </a:solidFill>
          <a:ln w="6350">
            <a:solidFill>
              <a:srgbClr val="D9D9D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784080" y="2240279"/>
            <a:ext cx="23774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10B981"/>
                </a:solidFill>
                <a:latin typeface="Calibri"/>
              </a:rPr>
              <a:t>97.5%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784080" y="3090672"/>
            <a:ext cx="23774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>
                <a:solidFill>
                  <a:srgbClr val="475669"/>
                </a:solidFill>
                <a:latin typeface="Calibri"/>
              </a:rPr>
              <a:t>TAXA DE SUCESSO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645920" y="3840480"/>
          <a:ext cx="8869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1828800"/>
                <a:gridCol w="1828800"/>
                <a:gridCol w="2011680"/>
              </a:tblGrid>
              <a:tr h="47548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INDICADOR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Marco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VARIACAO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Fora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-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>
                <a:solidFill>
                  <a:srgbClr val="F97316"/>
                </a:solidFill>
                <a:latin typeface="Calibri"/>
              </a:rPr>
              <a:t>PERFORMANCE DE ENTREGA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9164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457200" y="1920240"/>
          <a:ext cx="7315200" cy="384048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955279" y="2286000"/>
          <a:ext cx="4480560" cy="8778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914400"/>
                <a:gridCol w="1005840"/>
                <a:gridCol w="640080"/>
                <a:gridCol w="822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MES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%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Abril 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97.5%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Rectangle 6"/>
          <p:cNvSpPr/>
          <p:nvPr/>
        </p:nvSpPr>
        <p:spPr>
          <a:xfrm>
            <a:off x="7955279" y="6035040"/>
            <a:ext cx="4114800" cy="548640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001000" y="6080760"/>
            <a:ext cx="4023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PERFORMANCE: 97.5% - EXCELENTE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F97316"/>
                </a:solidFill>
                <a:latin typeface="Calibri"/>
              </a:rPr>
              <a:t>OCORRENCIAS FORA DO PRAZO (1)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00200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828800"/>
          <a:ext cx="11429999" cy="7680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80160"/>
                <a:gridCol w="3749039"/>
                <a:gridCol w="2103120"/>
                <a:gridCol w="1554480"/>
                <a:gridCol w="2743200"/>
              </a:tblGrid>
              <a:tr h="38404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MD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CIDADE/UF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PREV. ENTREGA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278662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HGS GAS E AGUA DO BR - RIO DE JANEIRO / 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RIO DE JANEIRO/RJ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16/04/2026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ENTREGUE FORA DO PRAZO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97316"/>
                </a:solidFill>
                <a:latin typeface="Calibri"/>
              </a:rPr>
              <a:t>PERFORMANCE POR UF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719072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1920240"/>
          <a:ext cx="1069848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97280"/>
                <a:gridCol w="1645920"/>
                <a:gridCol w="1645920"/>
                <a:gridCol w="1645920"/>
                <a:gridCol w="1554480"/>
                <a:gridCol w="3108960"/>
              </a:tblGrid>
              <a:tr h="438912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UF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75.0%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RS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slide2_img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1904" y="155448"/>
            <a:ext cx="1380744" cy="667512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749808" y="50292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97316"/>
                </a:solidFill>
                <a:latin typeface="Calibri"/>
              </a:rPr>
              <a:t>TOP DESTINATARIOS (29 pontos)</a:t>
            </a:r>
          </a:p>
        </p:txBody>
      </p:sp>
      <p:sp>
        <p:nvSpPr>
          <p:cNvPr id="4" name="Rectangle 3"/>
          <p:cNvSpPr/>
          <p:nvPr/>
        </p:nvSpPr>
        <p:spPr>
          <a:xfrm>
            <a:off x="749808" y="1664208"/>
            <a:ext cx="10424160" cy="36576"/>
          </a:xfrm>
          <a:prstGeom prst="rect">
            <a:avLst/>
          </a:prstGeom>
          <a:solidFill>
            <a:srgbClr val="F9731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65760" y="1828800"/>
          <a:ext cx="11521440" cy="4389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3931920"/>
                <a:gridCol w="1005840"/>
                <a:gridCol w="1280160"/>
                <a:gridCol w="731520"/>
                <a:gridCol w="1188720"/>
                <a:gridCol w="2926080"/>
              </a:tblGrid>
              <a:tr h="292608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#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DESTINATARIO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TOTAL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NO PRAZO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FORA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TAXA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Calibri"/>
                        </a:rPr>
                        <a:t>STATUS</a:t>
                      </a:r>
                    </a:p>
                  </a:txBody>
                  <a:tcPr>
                    <a:solidFill>
                      <a:srgbClr val="1D1B43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PORTOEXPRESS LOGISTI - ITAJAI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CKS INTERNATIONAL CO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MATTEL DO BRASIL LTD - NAVEGANTES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HGS GAS E AGUA DO BR - RIO DE JANEIRO / RJ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Atencao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CHRISTIAN SIEGL - LAURO DE FREITAS / BA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JC ENCOMENDA EXPRESS - RECIFE / PE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BLUE BAY COMERCIAL - SAO FRANCISCO DO SUL / SC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CAJADAN TEXTIL LTDA. - JOINVILLE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COMERCIAL HUGEN - SAPUCAIA DO SUL / 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BRSL LOGISTICA LTDA - ITAJAI / SC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ANNA CAROLLYNE ALEXA - TURVANIA / GO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AMAZON SERVICOS DE V - BETIM / MG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AEROPORTO INTERNACIO - GUARULHOS / SP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2608"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GATTO LOG - RIBEIRAO PRETO / SP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0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100.0%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000" b="0">
                          <a:solidFill>
                            <a:srgbClr val="1D1B43"/>
                          </a:solidFill>
                          <a:latin typeface="Calibri"/>
                        </a:rPr>
                        <a:t>Excelente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3" name="Imagem 2" descr="Logotipo&#10;&#10;O conteúdo gerado por IA pode estar incorreto.">
            <a:extLst>
              <a:ext uri="{FF2B5EF4-FFF2-40B4-BE49-F238E27FC236}">
                <a16:creationId xmlns:a16="http://schemas.microsoft.com/office/drawing/2014/main" id="{ED35CF5C-88F5-A17C-6A93-CAB0F2FC293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8881" y="2171286"/>
            <a:ext cx="4569347" cy="1374375"/>
          </a:xfrm>
          <a:prstGeom prst="rect">
            <a:avLst/>
          </a:prstGeom>
        </p:spPr>
      </p:pic>
      <p:sp>
        <p:nvSpPr>
          <p:cNvPr id="30" name="sketch line">
            <a:extLst>
              <a:ext uri="{FF2B5EF4-FFF2-40B4-BE49-F238E27FC236}">
                <a16:creationId xmlns:a16="http://schemas.microsoft.com/office/drawing/2014/main" id="{D6A9C53F-5F90-40A5-8C85-5412D39C8C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50080" y="5594358"/>
            <a:ext cx="3291840" cy="18288"/>
          </a:xfrm>
          <a:custGeom>
            <a:avLst/>
            <a:gdLst>
              <a:gd name="csX0" fmla="*/ 0 w 3291840"/>
              <a:gd name="csY0" fmla="*/ 0 h 18288"/>
              <a:gd name="csX1" fmla="*/ 658368 w 3291840"/>
              <a:gd name="csY1" fmla="*/ 0 h 18288"/>
              <a:gd name="csX2" fmla="*/ 1283818 w 3291840"/>
              <a:gd name="csY2" fmla="*/ 0 h 18288"/>
              <a:gd name="csX3" fmla="*/ 1909267 w 3291840"/>
              <a:gd name="csY3" fmla="*/ 0 h 18288"/>
              <a:gd name="csX4" fmla="*/ 2633472 w 3291840"/>
              <a:gd name="csY4" fmla="*/ 0 h 18288"/>
              <a:gd name="csX5" fmla="*/ 3291840 w 3291840"/>
              <a:gd name="csY5" fmla="*/ 0 h 18288"/>
              <a:gd name="csX6" fmla="*/ 3291840 w 3291840"/>
              <a:gd name="csY6" fmla="*/ 18288 h 18288"/>
              <a:gd name="csX7" fmla="*/ 2633472 w 3291840"/>
              <a:gd name="csY7" fmla="*/ 18288 h 18288"/>
              <a:gd name="csX8" fmla="*/ 2073859 w 3291840"/>
              <a:gd name="csY8" fmla="*/ 18288 h 18288"/>
              <a:gd name="csX9" fmla="*/ 1448410 w 3291840"/>
              <a:gd name="csY9" fmla="*/ 18288 h 18288"/>
              <a:gd name="csX10" fmla="*/ 822960 w 3291840"/>
              <a:gd name="csY10" fmla="*/ 18288 h 18288"/>
              <a:gd name="csX11" fmla="*/ 0 w 3291840"/>
              <a:gd name="csY11" fmla="*/ 18288 h 18288"/>
              <a:gd name="csX12" fmla="*/ 0 w 3291840"/>
              <a:gd name="csY12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</a:cxnLst>
            <a:rect l="l" t="t" r="r" b="b"/>
            <a:pathLst>
              <a:path w="3291840" h="18288" fill="none" extrusionOk="0">
                <a:moveTo>
                  <a:pt x="0" y="0"/>
                </a:moveTo>
                <a:cubicBezTo>
                  <a:pt x="173077" y="-20031"/>
                  <a:pt x="443104" y="6424"/>
                  <a:pt x="658368" y="0"/>
                </a:cubicBezTo>
                <a:cubicBezTo>
                  <a:pt x="873632" y="-6424"/>
                  <a:pt x="1034028" y="11764"/>
                  <a:pt x="1283818" y="0"/>
                </a:cubicBezTo>
                <a:cubicBezTo>
                  <a:pt x="1533608" y="-11764"/>
                  <a:pt x="1691227" y="-30112"/>
                  <a:pt x="1909267" y="0"/>
                </a:cubicBezTo>
                <a:cubicBezTo>
                  <a:pt x="2127307" y="30112"/>
                  <a:pt x="2272465" y="-18735"/>
                  <a:pt x="2633472" y="0"/>
                </a:cubicBezTo>
                <a:cubicBezTo>
                  <a:pt x="2994479" y="18735"/>
                  <a:pt x="3023324" y="-32030"/>
                  <a:pt x="3291840" y="0"/>
                </a:cubicBezTo>
                <a:cubicBezTo>
                  <a:pt x="3291406" y="7551"/>
                  <a:pt x="3291373" y="9822"/>
                  <a:pt x="3291840" y="18288"/>
                </a:cubicBezTo>
                <a:cubicBezTo>
                  <a:pt x="3048445" y="38989"/>
                  <a:pt x="2846548" y="-14400"/>
                  <a:pt x="2633472" y="18288"/>
                </a:cubicBezTo>
                <a:cubicBezTo>
                  <a:pt x="2420396" y="50976"/>
                  <a:pt x="2304099" y="6336"/>
                  <a:pt x="2073859" y="18288"/>
                </a:cubicBezTo>
                <a:cubicBezTo>
                  <a:pt x="1843619" y="30240"/>
                  <a:pt x="1706926" y="10778"/>
                  <a:pt x="1448410" y="18288"/>
                </a:cubicBezTo>
                <a:cubicBezTo>
                  <a:pt x="1189894" y="25798"/>
                  <a:pt x="1002278" y="8992"/>
                  <a:pt x="822960" y="18288"/>
                </a:cubicBezTo>
                <a:cubicBezTo>
                  <a:pt x="643642" y="27585"/>
                  <a:pt x="307039" y="38051"/>
                  <a:pt x="0" y="18288"/>
                </a:cubicBezTo>
                <a:cubicBezTo>
                  <a:pt x="60" y="11696"/>
                  <a:pt x="66" y="3758"/>
                  <a:pt x="0" y="0"/>
                </a:cubicBezTo>
                <a:close/>
              </a:path>
              <a:path w="3291840" h="18288" stroke="0" extrusionOk="0">
                <a:moveTo>
                  <a:pt x="0" y="0"/>
                </a:moveTo>
                <a:cubicBezTo>
                  <a:pt x="195850" y="28018"/>
                  <a:pt x="434891" y="17390"/>
                  <a:pt x="592531" y="0"/>
                </a:cubicBezTo>
                <a:cubicBezTo>
                  <a:pt x="750171" y="-17390"/>
                  <a:pt x="1018709" y="32200"/>
                  <a:pt x="1316736" y="0"/>
                </a:cubicBezTo>
                <a:cubicBezTo>
                  <a:pt x="1614763" y="-32200"/>
                  <a:pt x="1696480" y="-11367"/>
                  <a:pt x="1876349" y="0"/>
                </a:cubicBezTo>
                <a:cubicBezTo>
                  <a:pt x="2056218" y="11367"/>
                  <a:pt x="2193364" y="13433"/>
                  <a:pt x="2435962" y="0"/>
                </a:cubicBezTo>
                <a:cubicBezTo>
                  <a:pt x="2678560" y="-13433"/>
                  <a:pt x="3010901" y="-42367"/>
                  <a:pt x="3291840" y="0"/>
                </a:cubicBezTo>
                <a:cubicBezTo>
                  <a:pt x="3291758" y="4406"/>
                  <a:pt x="3291751" y="9982"/>
                  <a:pt x="3291840" y="18288"/>
                </a:cubicBezTo>
                <a:cubicBezTo>
                  <a:pt x="3108993" y="14228"/>
                  <a:pt x="2952658" y="46900"/>
                  <a:pt x="2666390" y="18288"/>
                </a:cubicBezTo>
                <a:cubicBezTo>
                  <a:pt x="2380122" y="-10324"/>
                  <a:pt x="2263855" y="41055"/>
                  <a:pt x="2040941" y="18288"/>
                </a:cubicBezTo>
                <a:cubicBezTo>
                  <a:pt x="1818027" y="-4479"/>
                  <a:pt x="1675097" y="6509"/>
                  <a:pt x="1415491" y="18288"/>
                </a:cubicBezTo>
                <a:cubicBezTo>
                  <a:pt x="1155885" y="30068"/>
                  <a:pt x="852976" y="36210"/>
                  <a:pt x="691286" y="18288"/>
                </a:cubicBezTo>
                <a:cubicBezTo>
                  <a:pt x="529596" y="366"/>
                  <a:pt x="187183" y="13912"/>
                  <a:pt x="0" y="18288"/>
                </a:cubicBezTo>
                <a:cubicBezTo>
                  <a:pt x="189" y="14288"/>
                  <a:pt x="-703" y="3747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1275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863741219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Imagem 5" descr="Logotipo, nome da empresa&#10;&#10;Descrição gerada automaticamente">
            <a:extLst>
              <a:ext uri="{FF2B5EF4-FFF2-40B4-BE49-F238E27FC236}">
                <a16:creationId xmlns:a16="http://schemas.microsoft.com/office/drawing/2014/main" id="{34AC1B7C-9A66-44B7-9FBA-8044577DDA7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78389" y="1167431"/>
            <a:ext cx="4924159" cy="2378231"/>
          </a:xfrm>
          <a:prstGeom prst="rect">
            <a:avLst/>
          </a:prstGeom>
        </p:spPr>
      </p:pic>
      <p:sp>
        <p:nvSpPr>
          <p:cNvPr id="2" name="Título 1">
            <a:extLst>
              <a:ext uri="{FF2B5EF4-FFF2-40B4-BE49-F238E27FC236}">
                <a16:creationId xmlns:a16="http://schemas.microsoft.com/office/drawing/2014/main" id="{47492DD1-345A-4D4F-AF38-59BC372A4F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8881" y="4501453"/>
            <a:ext cx="10909640" cy="1065836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ctr"/>
            <a:r>
              <a:rPr lang="en-US" sz="6600" b="1" dirty="0">
                <a:solidFill>
                  <a:schemeClr val="accent2"/>
                </a:solidFill>
                <a:latin typeface="+mn-lt"/>
              </a:rPr>
              <a:t>OBRIGADA</a:t>
            </a:r>
          </a:p>
        </p:txBody>
      </p:sp>
      <p:sp useBgFill="1">
        <p:nvSpPr>
          <p:cNvPr id="29" name="Rectangle 22">
            <a:extLst>
              <a:ext uri="{FF2B5EF4-FFF2-40B4-BE49-F238E27FC236}">
                <a16:creationId xmlns:a16="http://schemas.microsoft.com/office/drawing/2014/main" id="{F0087D53-9295-4463-AAE4-D5C626046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