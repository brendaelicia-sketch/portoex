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No Prazo</c:v>
                </c:pt>
              </c:strCache>
            </c:strRef>
          </c:tx>
          <c:spPr>
            <a:solidFill>
              <a:srgbClr val="1D1B43"/>
            </a:solidFill>
          </c:spPr>
          <c:cat>
            <c:strRef>
              <c:f>Sheet1!$A$2:$A$3</c:f>
              <c:strCache>
                <c:ptCount val="2"/>
                <c:pt idx="0">
                  <c:v>Maio 2026</c:v>
                </c:pt>
                <c:pt idx="1">
                  <c:v>Abril 2026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110</c:v>
                </c:pt>
                <c:pt idx="1">
                  <c:v>118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Fora do Prazo</c:v>
                </c:pt>
              </c:strCache>
            </c:strRef>
          </c:tx>
          <c:spPr>
            <a:solidFill>
              <a:srgbClr val="F97316"/>
            </a:solidFill>
          </c:spPr>
          <c:cat>
            <c:strRef>
              <c:f>Sheet1!$A$2:$A$3</c:f>
              <c:strCache>
                <c:ptCount val="2"/>
                <c:pt idx="0">
                  <c:v>Maio 2026</c:v>
                </c:pt>
                <c:pt idx="1">
                  <c:v>Abril 2026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13</c:v>
                </c:pt>
                <c:pt idx="1">
                  <c:v>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1_img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2664" y="0"/>
            <a:ext cx="6876288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04088" y="82296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RELATORIO 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78308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DESEMPENHO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474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D1B43"/>
                </a:solidFill>
                <a:latin typeface="Calibri"/>
              </a:rPr>
              <a:t>INDICADORES ABRIL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088" y="3913632"/>
            <a:ext cx="347472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114800"/>
            <a:ext cx="4754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D1B43"/>
                </a:solidFill>
                <a:latin typeface="Calibri"/>
              </a:rPr>
              <a:t>MATTEL DO BRASIL LTDA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34656" y="594360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Nossa rota e ir alem das entregas!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97316"/>
                </a:solidFill>
                <a:latin typeface="Calibri"/>
              </a:rPr>
              <a:t>RESUMO DA OPERACAO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874519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D1B43"/>
                </a:solidFill>
                <a:latin typeface="Calibri"/>
              </a:rPr>
              <a:t>120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TOTAL ENTREGAS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3192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118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NO PRAZO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6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EF4444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FORA DO PRAZO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9264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8408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98.3%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TAXA DE SUCESSO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1645920" y="3840480"/>
          <a:ext cx="88696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828800"/>
                <a:gridCol w="1828800"/>
                <a:gridCol w="201168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INDICADOR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Maio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VARIACAO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- 3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- 11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89.4%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98.3%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+ 8.9pp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97316"/>
                </a:solidFill>
                <a:latin typeface="Calibri"/>
              </a:rPr>
              <a:t>PERFORMANCE DE ENTREGA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9164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920240"/>
          <a:ext cx="7315200" cy="38404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955279" y="2286000"/>
          <a:ext cx="448056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914400"/>
                <a:gridCol w="1005840"/>
                <a:gridCol w="640080"/>
                <a:gridCol w="822960"/>
              </a:tblGrid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%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Maio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89.4%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120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98.3%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955279" y="6035040"/>
            <a:ext cx="4114800" cy="5486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01000" y="608076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PERFORMANCE: 98.3% - EXCELENTE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97316"/>
                </a:solidFill>
                <a:latin typeface="Calibri"/>
              </a:rPr>
              <a:t>OCORRENCIAS FORA DO PRAZO (2)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0020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828800"/>
          <a:ext cx="11429999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3749039"/>
                <a:gridCol w="2103120"/>
                <a:gridCol w="1554480"/>
                <a:gridCol w="274320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MD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CIDADE/UF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PREV. ENTREGA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279217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MARINA BRINQUEDOS EI - SAO MATEUS / 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SAO MATEUS/ES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28/04/2026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279218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ML BRINQUEDOS E PAPE - ARACRUZ / 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ARACRUZ/ES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28/04/2026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97316"/>
                </a:solidFill>
                <a:latin typeface="Calibri"/>
              </a:rPr>
              <a:t>PERFORMANCE POR UF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719072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920240"/>
          <a:ext cx="1069848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645920"/>
                <a:gridCol w="1645920"/>
                <a:gridCol w="1645920"/>
                <a:gridCol w="1554480"/>
                <a:gridCol w="3108960"/>
              </a:tblGrid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Atencao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GO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97316"/>
                </a:solidFill>
                <a:latin typeface="Calibri"/>
              </a:rPr>
              <a:t>TOP DESTINATARIOS (61 pontos)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64208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828800"/>
          <a:ext cx="1152144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3931920"/>
                <a:gridCol w="1005840"/>
                <a:gridCol w="1280160"/>
                <a:gridCol w="731520"/>
                <a:gridCol w="1188720"/>
                <a:gridCol w="2926080"/>
              </a:tblGrid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RI HAPPY BRINQUEDOS - BRASILIA / 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DEYCON COM E DISTRIB - VARZEA GRANDE / MT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AMAZONSERVICOS DE VA - BRASILIA / 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DEYCON COM E DISTRIB - IBIPORA / 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CIA ZAFFARI COM IND - PORTO ALEGRE / 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RI HAPPY BRINQUEDOS - CUIABA / MT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RI HAPPY BRINQUEDOS - GOIANIA / GO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DEYCON COM E DISTRIB - SAO JOSE DOS PINHAIS / 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FIORELO PEGORARO COM - JOACABA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SANTA CRUZ COM ATAC - BRASILIA / DF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AMAZON SERVICOS DE V - BETIM / MG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AMAZON SERVICOS DE V - NOVA SANTA RITA / RS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FABIO J R DOS SANTOS - CURITIBA / 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MATTEL DO BRASIL LTD - NAVEGANTES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Imagem 2" descr="Logotipo&#10;&#10;O conteúdo gerado por IA pode estar incorreto.">
            <a:extLst>
              <a:ext uri="{FF2B5EF4-FFF2-40B4-BE49-F238E27FC236}">
                <a16:creationId xmlns:a16="http://schemas.microsoft.com/office/drawing/2014/main" id="{ED35CF5C-88F5-A17C-6A93-CAB0F2FC29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881" y="2171286"/>
            <a:ext cx="4569347" cy="1374375"/>
          </a:xfrm>
          <a:prstGeom prst="rect">
            <a:avLst/>
          </a:prstGeom>
        </p:spPr>
      </p:pic>
      <p:sp>
        <p:nvSpPr>
          <p:cNvPr id="30" name="sketch line">
            <a:extLst>
              <a:ext uri="{FF2B5EF4-FFF2-40B4-BE49-F238E27FC236}">
                <a16:creationId xmlns:a16="http://schemas.microsoft.com/office/drawing/2014/main" id="{D6A9C53F-5F90-40A5-8C85-5412D39C8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0080" y="5594358"/>
            <a:ext cx="3291840" cy="18288"/>
          </a:xfrm>
          <a:custGeom>
            <a:avLst/>
            <a:gdLst>
              <a:gd name="csX0" fmla="*/ 0 w 3291840"/>
              <a:gd name="csY0" fmla="*/ 0 h 18288"/>
              <a:gd name="csX1" fmla="*/ 658368 w 3291840"/>
              <a:gd name="csY1" fmla="*/ 0 h 18288"/>
              <a:gd name="csX2" fmla="*/ 1283818 w 3291840"/>
              <a:gd name="csY2" fmla="*/ 0 h 18288"/>
              <a:gd name="csX3" fmla="*/ 1909267 w 3291840"/>
              <a:gd name="csY3" fmla="*/ 0 h 18288"/>
              <a:gd name="csX4" fmla="*/ 2633472 w 3291840"/>
              <a:gd name="csY4" fmla="*/ 0 h 18288"/>
              <a:gd name="csX5" fmla="*/ 3291840 w 3291840"/>
              <a:gd name="csY5" fmla="*/ 0 h 18288"/>
              <a:gd name="csX6" fmla="*/ 3291840 w 3291840"/>
              <a:gd name="csY6" fmla="*/ 18288 h 18288"/>
              <a:gd name="csX7" fmla="*/ 2633472 w 3291840"/>
              <a:gd name="csY7" fmla="*/ 18288 h 18288"/>
              <a:gd name="csX8" fmla="*/ 2073859 w 3291840"/>
              <a:gd name="csY8" fmla="*/ 18288 h 18288"/>
              <a:gd name="csX9" fmla="*/ 1448410 w 3291840"/>
              <a:gd name="csY9" fmla="*/ 18288 h 18288"/>
              <a:gd name="csX10" fmla="*/ 822960 w 3291840"/>
              <a:gd name="csY10" fmla="*/ 18288 h 18288"/>
              <a:gd name="csX11" fmla="*/ 0 w 3291840"/>
              <a:gd name="csY11" fmla="*/ 18288 h 18288"/>
              <a:gd name="csX12" fmla="*/ 0 w 329184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291840" h="18288" fill="none" extrusionOk="0">
                <a:moveTo>
                  <a:pt x="0" y="0"/>
                </a:moveTo>
                <a:cubicBezTo>
                  <a:pt x="173077" y="-20031"/>
                  <a:pt x="443104" y="6424"/>
                  <a:pt x="658368" y="0"/>
                </a:cubicBezTo>
                <a:cubicBezTo>
                  <a:pt x="873632" y="-6424"/>
                  <a:pt x="1034028" y="11764"/>
                  <a:pt x="1283818" y="0"/>
                </a:cubicBezTo>
                <a:cubicBezTo>
                  <a:pt x="1533608" y="-11764"/>
                  <a:pt x="1691227" y="-30112"/>
                  <a:pt x="1909267" y="0"/>
                </a:cubicBezTo>
                <a:cubicBezTo>
                  <a:pt x="2127307" y="30112"/>
                  <a:pt x="2272465" y="-18735"/>
                  <a:pt x="2633472" y="0"/>
                </a:cubicBezTo>
                <a:cubicBezTo>
                  <a:pt x="2994479" y="18735"/>
                  <a:pt x="3023324" y="-32030"/>
                  <a:pt x="3291840" y="0"/>
                </a:cubicBezTo>
                <a:cubicBezTo>
                  <a:pt x="3291406" y="7551"/>
                  <a:pt x="3291373" y="9822"/>
                  <a:pt x="3291840" y="18288"/>
                </a:cubicBezTo>
                <a:cubicBezTo>
                  <a:pt x="3048445" y="38989"/>
                  <a:pt x="2846548" y="-14400"/>
                  <a:pt x="2633472" y="18288"/>
                </a:cubicBezTo>
                <a:cubicBezTo>
                  <a:pt x="2420396" y="50976"/>
                  <a:pt x="2304099" y="6336"/>
                  <a:pt x="2073859" y="18288"/>
                </a:cubicBezTo>
                <a:cubicBezTo>
                  <a:pt x="1843619" y="30240"/>
                  <a:pt x="1706926" y="10778"/>
                  <a:pt x="1448410" y="18288"/>
                </a:cubicBezTo>
                <a:cubicBezTo>
                  <a:pt x="1189894" y="25798"/>
                  <a:pt x="1002278" y="8992"/>
                  <a:pt x="822960" y="18288"/>
                </a:cubicBezTo>
                <a:cubicBezTo>
                  <a:pt x="643642" y="27585"/>
                  <a:pt x="307039" y="38051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291840" h="18288" stroke="0" extrusionOk="0">
                <a:moveTo>
                  <a:pt x="0" y="0"/>
                </a:moveTo>
                <a:cubicBezTo>
                  <a:pt x="195850" y="28018"/>
                  <a:pt x="434891" y="17390"/>
                  <a:pt x="592531" y="0"/>
                </a:cubicBezTo>
                <a:cubicBezTo>
                  <a:pt x="750171" y="-17390"/>
                  <a:pt x="1018709" y="32200"/>
                  <a:pt x="1316736" y="0"/>
                </a:cubicBezTo>
                <a:cubicBezTo>
                  <a:pt x="1614763" y="-32200"/>
                  <a:pt x="1696480" y="-11367"/>
                  <a:pt x="1876349" y="0"/>
                </a:cubicBezTo>
                <a:cubicBezTo>
                  <a:pt x="2056218" y="11367"/>
                  <a:pt x="2193364" y="13433"/>
                  <a:pt x="2435962" y="0"/>
                </a:cubicBezTo>
                <a:cubicBezTo>
                  <a:pt x="2678560" y="-13433"/>
                  <a:pt x="3010901" y="-42367"/>
                  <a:pt x="3291840" y="0"/>
                </a:cubicBezTo>
                <a:cubicBezTo>
                  <a:pt x="3291758" y="4406"/>
                  <a:pt x="3291751" y="9982"/>
                  <a:pt x="3291840" y="18288"/>
                </a:cubicBezTo>
                <a:cubicBezTo>
                  <a:pt x="3108993" y="14228"/>
                  <a:pt x="2952658" y="46900"/>
                  <a:pt x="2666390" y="18288"/>
                </a:cubicBezTo>
                <a:cubicBezTo>
                  <a:pt x="2380122" y="-10324"/>
                  <a:pt x="2263855" y="41055"/>
                  <a:pt x="2040941" y="18288"/>
                </a:cubicBezTo>
                <a:cubicBezTo>
                  <a:pt x="1818027" y="-4479"/>
                  <a:pt x="1675097" y="6509"/>
                  <a:pt x="1415491" y="18288"/>
                </a:cubicBezTo>
                <a:cubicBezTo>
                  <a:pt x="1155885" y="30068"/>
                  <a:pt x="852976" y="36210"/>
                  <a:pt x="691286" y="18288"/>
                </a:cubicBezTo>
                <a:cubicBezTo>
                  <a:pt x="529596" y="366"/>
                  <a:pt x="187183" y="13912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Imagem 5" descr="Logotipo, nome da empresa&#10;&#10;Descrição gerada automaticamente">
            <a:extLst>
              <a:ext uri="{FF2B5EF4-FFF2-40B4-BE49-F238E27FC236}">
                <a16:creationId xmlns:a16="http://schemas.microsoft.com/office/drawing/2014/main" id="{34AC1B7C-9A66-44B7-9FBA-8044577DDA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8389" y="1167431"/>
            <a:ext cx="4924159" cy="2378231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47492DD1-345A-4D4F-AF38-59BC372A4F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501453"/>
            <a:ext cx="10909640" cy="1065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b="1" dirty="0">
                <a:solidFill>
                  <a:schemeClr val="accent2"/>
                </a:solidFill>
                <a:latin typeface="+mn-lt"/>
              </a:rPr>
              <a:t>OBRIGADA</a:t>
            </a:r>
          </a:p>
        </p:txBody>
      </p:sp>
      <p:sp useBgFill="1">
        <p:nvSpPr>
          <p:cNvPr id="29" name="Rectangle 22">
            <a:extLst>
              <a:ext uri="{FF2B5EF4-FFF2-40B4-BE49-F238E27FC236}">
                <a16:creationId xmlns:a16="http://schemas.microsoft.com/office/drawing/2014/main" id="{F0087D53-9295-4463-AAE4-D5C626046E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